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Presentamos un clasificador de tres clases para el estado de diabetes. Todo el código está en el repositorio Proyecto2-IA y corre de principio a 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costo más alto es no detectar a una persona con diabetes; una prueba médica de más cuesta poco. Por eso miramos también el recall por clase. Pregunta probable: por qué no accuracy. Respuesta: con 84% de personas sanas, predecir siempre sano da 84% de accuracy sin detectar a nadie.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Usamos el archivo de Kaggle porque el de UCI solo trae la etiqueta binaria; tienen los mismos registros y variables. Con esta distribución, predecir siempre sin diabetes da 84% de accuracy sin detectar a nadie: por eso F1 macro, pesos de clase y partición estratificada.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análisis se hizo solo con el conjunto de entrenamiento (202,944 registros). La prediabetes casi siempre queda en un punto intermedio, más cerca de la diabetes: anticipa que será la clase más difícil, por eso reportamos el recall de cada clase además del F1 macro.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atípicos de MentHlth y PhysHlth según el rango intercuartílico son respuestas válidas: la mayoría responde 0 días. Los árboles no necesitan escalar porque solo usan umbrales.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búsqueda de la logística probó C en 0.01, 0.1, 1 y 10, con y sin pesos; C casi no importa con 200 mil registros. El árbol se controla con profundidad, mínimo para dividir, mínimo por hoja, criterio y pesos de clase. Variables más importantes del árbol: presión alta, IMC, salud general y edad.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forest: 100 árboles, profundidad 20, hojas de 10, max_features 0.5, pesos balanced_subsample. Gradient boosting: HistGradientBoosting, learning rate 0.05, 63 hojas, parada temprana en 65 árboles con un 10% interno de validación. La desviación del F1 entre particiones es de 0.002, así que la ventaja del random forest sobre la logística (0.012) no es ruido.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Diagnóstico de sobreajuste: la brecha es F1 de entrenamiento menos F1 de validación. En el árbol, el F1 de validación se estanca desde profundidad 15 mientras el de entrenamiento sigue subiendo. En el random forest la brecha es esperada por la profundidad de sus árboles, y lo que importa es que validación y prueba coinciden.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Elegimos el modelo con la regla de la propuesta (mayor F1 macro) antes de ver la prueba, y la prueba se usó una sola vez. De las 14,726 personas marcadas como diabetes, el 34% la tiene y el 37% tiene diabetes o prediabetes. Como filtro para recomendar una prueba médica, es preferible una prueba de más que dejar pasar a alguien con diabetes.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Ejemplos concretos tomados del conjunto de prueba, ordenados por la probabilidad del modelo. La conclusión: una persona con diabetes y perfil sano no tiene nada en estas 21 variables que la distinga de una persona sana.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sesgo por edad e ingreso viene de que esas personas con diabetes tienen, en promedio, un perfil más sano. Es un sesgo a reportar aunque el F1 macro por grupo sea parecido (0.40 a 0.44).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techo de 0.44 aparece con cinco algoritmos distintos, lo que sugiere que el límite está en los datos y no en el modelo. El CDC estima que una parte importante de las personas con diabetes y la gran mayoría con prediabetes no lo saben.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el modelo sirve como primer filtro para recomendar una prueba de diabetes, con el sesgo conocido hacia personas jóvenes y de ingresos altos. Para prediabetes harían falta variables clínicas.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4D45"/>
        </a:solidFill>
      </p:bgPr>
    </p:bg>
    <p:spTree>
      <p:nvGrpSpPr>
        <p:cNvPr id="1" name=""/>
        <p:cNvGrpSpPr/>
        <p:nvPr/>
      </p:nvGrpSpPr>
      <p:grpSpPr>
        <a:xfrm>
          <a:off x="0" y="0"/>
          <a:ext cx="0" cy="0"/>
          <a:chOff x="0" y="0"/>
          <a:chExt cx="0" cy="0"/>
        </a:xfrm>
      </p:grpSpPr>
      <p:sp>
        <p:nvSpPr>
          <p:cNvPr id="2" name="Shape 0"/>
          <p:cNvSpPr/>
          <p:nvPr/>
        </p:nvSpPr>
        <p:spPr>
          <a:xfrm>
            <a:off x="9646920" y="-1234440"/>
            <a:ext cx="3931920" cy="3931920"/>
          </a:xfrm>
          <a:prstGeom prst="ellipse">
            <a:avLst/>
          </a:prstGeom>
          <a:solidFill>
            <a:srgbClr val="17635A"/>
          </a:solidFill>
          <a:ln/>
        </p:spPr>
      </p:sp>
      <p:sp>
        <p:nvSpPr>
          <p:cNvPr id="3" name="Shape 1"/>
          <p:cNvSpPr/>
          <p:nvPr/>
        </p:nvSpPr>
        <p:spPr>
          <a:xfrm>
            <a:off x="9189720" y="1965960"/>
            <a:ext cx="777240" cy="777240"/>
          </a:xfrm>
          <a:prstGeom prst="ellipse">
            <a:avLst/>
          </a:prstGeom>
          <a:solidFill>
            <a:srgbClr val="3F8A26"/>
          </a:solidFill>
          <a:ln/>
        </p:spPr>
      </p:sp>
      <p:sp>
        <p:nvSpPr>
          <p:cNvPr id="4" name="Text 2"/>
          <p:cNvSpPr/>
          <p:nvPr/>
        </p:nvSpPr>
        <p:spPr>
          <a:xfrm>
            <a:off x="548640" y="1371600"/>
            <a:ext cx="8229600" cy="365760"/>
          </a:xfrm>
          <a:prstGeom prst="rect">
            <a:avLst/>
          </a:prstGeom>
          <a:noFill/>
          <a:ln/>
        </p:spPr>
        <p:txBody>
          <a:bodyPr wrap="square" lIns="0" tIns="0" rIns="0" bIns="0" rtlCol="0" anchor="ctr"/>
          <a:lstStyle/>
          <a:p>
            <a:pPr indent="0" marL="0">
              <a:buNone/>
            </a:pPr>
            <a:r>
              <a:rPr lang="en-US" sz="1300" b="1" spc="200" kern="0" dirty="0">
                <a:solidFill>
                  <a:srgbClr val="A8D08D"/>
                </a:solidFill>
                <a:latin typeface="Calibri" pitchFamily="34" charset="0"/>
                <a:ea typeface="Calibri" pitchFamily="34" charset="-122"/>
                <a:cs typeface="Calibri" pitchFamily="34" charset="-120"/>
              </a:rPr>
              <a:t>PROYECTO 2 | MACHINE LEARNING</a:t>
            </a:r>
            <a:endParaRPr lang="en-US" sz="1300" dirty="0"/>
          </a:p>
        </p:txBody>
      </p:sp>
      <p:sp>
        <p:nvSpPr>
          <p:cNvPr id="5" name="Text 3"/>
          <p:cNvSpPr/>
          <p:nvPr/>
        </p:nvSpPr>
        <p:spPr>
          <a:xfrm>
            <a:off x="548640" y="1874520"/>
            <a:ext cx="8595360" cy="1737360"/>
          </a:xfrm>
          <a:prstGeom prst="rect">
            <a:avLst/>
          </a:prstGeom>
          <a:noFill/>
          <a:ln/>
        </p:spPr>
        <p:txBody>
          <a:bodyPr wrap="square" lIns="0" tIns="0" rIns="0" bIns="0" rtlCol="0" anchor="ctr"/>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Predicción de estado de diabetes según hábitos y condiciones de salud</a:t>
            </a:r>
            <a:endParaRPr lang="en-US" sz="3800" dirty="0"/>
          </a:p>
        </p:txBody>
      </p:sp>
      <p:sp>
        <p:nvSpPr>
          <p:cNvPr id="6" name="Text 4"/>
          <p:cNvSpPr/>
          <p:nvPr/>
        </p:nvSpPr>
        <p:spPr>
          <a:xfrm>
            <a:off x="548640" y="3794760"/>
            <a:ext cx="8595360" cy="320040"/>
          </a:xfrm>
          <a:prstGeom prst="rect">
            <a:avLst/>
          </a:prstGeom>
          <a:noFill/>
          <a:ln/>
        </p:spPr>
        <p:txBody>
          <a:bodyPr wrap="square" lIns="0" tIns="0" rIns="0" bIns="0" rtlCol="0" anchor="ctr"/>
          <a:lstStyle/>
          <a:p>
            <a:pPr indent="0" marL="0">
              <a:buNone/>
            </a:pPr>
            <a:r>
              <a:rPr lang="en-US" sz="1400" i="1" dirty="0">
                <a:solidFill>
                  <a:srgbClr val="C9DDD3"/>
                </a:solidFill>
                <a:latin typeface="Calibri" pitchFamily="34" charset="0"/>
                <a:ea typeface="Calibri" pitchFamily="34" charset="-122"/>
                <a:cs typeface="Calibri" pitchFamily="34" charset="-120"/>
              </a:rPr>
              <a:t>Sin diabetes, prediabetes o diabetes a partir de 21 indicadores de una encuesta</a:t>
            </a:r>
            <a:endParaRPr lang="en-US" sz="1400" dirty="0"/>
          </a:p>
        </p:txBody>
      </p:sp>
      <p:sp>
        <p:nvSpPr>
          <p:cNvPr id="7" name="Text 5"/>
          <p:cNvSpPr/>
          <p:nvPr/>
        </p:nvSpPr>
        <p:spPr>
          <a:xfrm>
            <a:off x="548640" y="5029200"/>
            <a:ext cx="8595360" cy="2743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Inteligencia Artificial, Universidad del Valle de Guatemala</a:t>
            </a:r>
            <a:endParaRPr lang="en-US" sz="1300" dirty="0"/>
          </a:p>
        </p:txBody>
      </p:sp>
      <p:sp>
        <p:nvSpPr>
          <p:cNvPr id="8" name="Text 6"/>
          <p:cNvSpPr/>
          <p:nvPr/>
        </p:nvSpPr>
        <p:spPr>
          <a:xfrm>
            <a:off x="548640" y="5376672"/>
            <a:ext cx="8595360" cy="274320"/>
          </a:xfrm>
          <a:prstGeom prst="rect">
            <a:avLst/>
          </a:prstGeom>
          <a:noFill/>
          <a:ln/>
        </p:spPr>
        <p:txBody>
          <a:bodyPr wrap="square" lIns="0" tIns="0" rIns="0" bIns="0" rtlCol="0" anchor="ctr"/>
          <a:lstStyle/>
          <a:p>
            <a:pPr indent="0" marL="0">
              <a:buNone/>
            </a:pPr>
            <a:r>
              <a:rPr lang="en-US" sz="1300" dirty="0">
                <a:solidFill>
                  <a:srgbClr val="C9DDD3"/>
                </a:solidFill>
                <a:latin typeface="Calibri" pitchFamily="34" charset="0"/>
                <a:ea typeface="Calibri" pitchFamily="34" charset="-122"/>
                <a:cs typeface="Calibri" pitchFamily="34" charset="-120"/>
              </a:rPr>
              <a:t>Sofía López Ayerdi 231929 | Fabian Prado 23427</a:t>
            </a:r>
            <a:endParaRPr lang="en-US" sz="1300" dirty="0"/>
          </a:p>
        </p:txBody>
      </p:sp>
      <p:sp>
        <p:nvSpPr>
          <p:cNvPr id="9" name="Text 7"/>
          <p:cNvSpPr/>
          <p:nvPr/>
        </p:nvSpPr>
        <p:spPr>
          <a:xfrm>
            <a:off x="548640" y="5724144"/>
            <a:ext cx="8595360" cy="274320"/>
          </a:xfrm>
          <a:prstGeom prst="rect">
            <a:avLst/>
          </a:prstGeom>
          <a:noFill/>
          <a:ln/>
        </p:spPr>
        <p:txBody>
          <a:bodyPr wrap="square" lIns="0" tIns="0" rIns="0" bIns="0" rtlCol="0" anchor="ctr"/>
          <a:lstStyle/>
          <a:p>
            <a:pPr indent="0" marL="0">
              <a:buNone/>
            </a:pPr>
            <a:r>
              <a:rPr lang="en-US" sz="1200" dirty="0">
                <a:solidFill>
                  <a:srgbClr val="9FC2B7"/>
                </a:solidFill>
                <a:latin typeface="Calibri" pitchFamily="34" charset="0"/>
                <a:ea typeface="Calibri" pitchFamily="34" charset="-122"/>
                <a:cs typeface="Calibri" pitchFamily="34" charset="-120"/>
              </a:rPr>
              <a:t>26 de octubre de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420624"/>
            <a:ext cx="402336" cy="402336"/>
          </a:xfrm>
          <a:prstGeom prst="ellipse">
            <a:avLst/>
          </a:prstGeom>
          <a:solidFill>
            <a:srgbClr val="0E4D45"/>
          </a:solidFill>
          <a:ln/>
        </p:spPr>
      </p:sp>
      <p:sp>
        <p:nvSpPr>
          <p:cNvPr id="3" name="Text 1"/>
          <p:cNvSpPr/>
          <p:nvPr/>
        </p:nvSpPr>
        <p:spPr>
          <a:xfrm>
            <a:off x="548640" y="42062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4" name="Text 2"/>
          <p:cNvSpPr/>
          <p:nvPr/>
        </p:nvSpPr>
        <p:spPr>
          <a:xfrm>
            <a:off x="1097280" y="457200"/>
            <a:ext cx="9601200" cy="329184"/>
          </a:xfrm>
          <a:prstGeom prst="rect">
            <a:avLst/>
          </a:prstGeom>
          <a:noFill/>
          <a:ln/>
        </p:spPr>
        <p:txBody>
          <a:bodyPr wrap="square" lIns="0" tIns="0" rIns="0" bIns="0" rtlCol="0" anchor="ctr"/>
          <a:lstStyle/>
          <a:p>
            <a:pPr indent="0" marL="0">
              <a:buNone/>
            </a:pPr>
            <a:r>
              <a:rPr lang="en-US" sz="1100" b="1" spc="140" kern="0" dirty="0">
                <a:solidFill>
                  <a:srgbClr val="3F8A26"/>
                </a:solidFill>
                <a:latin typeface="Calibri" pitchFamily="34" charset="0"/>
                <a:ea typeface="Calibri" pitchFamily="34" charset="-122"/>
                <a:cs typeface="Calibri" pitchFamily="34" charset="-120"/>
              </a:rPr>
              <a:t>PROBLEMA | DEFINICIÓN</a:t>
            </a:r>
            <a:endParaRPr lang="en-US" sz="1100" dirty="0"/>
          </a:p>
        </p:txBody>
      </p:sp>
      <p:sp>
        <p:nvSpPr>
          <p:cNvPr id="5" name="Text 3"/>
          <p:cNvSpPr/>
          <p:nvPr/>
        </p:nvSpPr>
        <p:spPr>
          <a:xfrm>
            <a:off x="548640" y="960120"/>
            <a:ext cx="11064240" cy="658368"/>
          </a:xfrm>
          <a:prstGeom prst="rect">
            <a:avLst/>
          </a:prstGeom>
          <a:noFill/>
          <a:ln/>
        </p:spPr>
        <p:txBody>
          <a:bodyPr wrap="square" lIns="0" tIns="0" rIns="0" bIns="0" rtlCol="0" anchor="t"/>
          <a:lstStyle/>
          <a:p>
            <a:pPr indent="0" marL="0">
              <a:buNone/>
            </a:pPr>
            <a:r>
              <a:rPr lang="en-US" sz="2600" b="1" dirty="0">
                <a:solidFill>
                  <a:srgbClr val="0E4D45"/>
                </a:solidFill>
                <a:latin typeface="Cambria" pitchFamily="34" charset="0"/>
                <a:ea typeface="Cambria" pitchFamily="34" charset="-122"/>
                <a:cs typeface="Cambria" pitchFamily="34" charset="-120"/>
              </a:rPr>
              <a:t>¿Podemos estimar el estado de diabetes con una encuesta?</a:t>
            </a:r>
            <a:endParaRPr lang="en-US" sz="2600" dirty="0"/>
          </a:p>
        </p:txBody>
      </p:sp>
      <p:sp>
        <p:nvSpPr>
          <p:cNvPr id="6" name="Shape 4"/>
          <p:cNvSpPr/>
          <p:nvPr/>
        </p:nvSpPr>
        <p:spPr>
          <a:xfrm>
            <a:off x="548640" y="1783080"/>
            <a:ext cx="6035040" cy="4389120"/>
          </a:xfrm>
          <a:prstGeom prst="roundRect">
            <a:avLst>
              <a:gd name="adj" fmla="val 1042"/>
            </a:avLst>
          </a:prstGeom>
          <a:solidFill>
            <a:srgbClr val="EEF4EF"/>
          </a:solidFill>
          <a:ln w="9525">
            <a:solidFill>
              <a:srgbClr val="D4E2D6"/>
            </a:solidFill>
            <a:prstDash val="solid"/>
          </a:ln>
        </p:spPr>
      </p:sp>
      <p:sp>
        <p:nvSpPr>
          <p:cNvPr id="7" name="Text 5"/>
          <p:cNvSpPr/>
          <p:nvPr/>
        </p:nvSpPr>
        <p:spPr>
          <a:xfrm>
            <a:off x="804672" y="1984248"/>
            <a:ext cx="5522976" cy="347472"/>
          </a:xfrm>
          <a:prstGeom prst="rect">
            <a:avLst/>
          </a:prstGeom>
          <a:noFill/>
          <a:ln/>
        </p:spPr>
        <p:txBody>
          <a:bodyPr wrap="square" lIns="0" tIns="0" rIns="0" bIns="0" rtlCol="0" anchor="ctr"/>
          <a:lstStyle/>
          <a:p>
            <a:pPr indent="0" marL="0">
              <a:buNone/>
            </a:pPr>
            <a:r>
              <a:rPr lang="en-US" sz="1300" b="1" dirty="0">
                <a:solidFill>
                  <a:srgbClr val="0E4D45"/>
                </a:solidFill>
                <a:latin typeface="Calibri" pitchFamily="34" charset="0"/>
                <a:ea typeface="Calibri" pitchFamily="34" charset="-122"/>
                <a:cs typeface="Calibri" pitchFamily="34" charset="-120"/>
              </a:rPr>
              <a:t>El problema</a:t>
            </a:r>
            <a:endParaRPr lang="en-US" sz="1300" dirty="0"/>
          </a:p>
        </p:txBody>
      </p:sp>
      <p:sp>
        <p:nvSpPr>
          <p:cNvPr id="8" name="Text 6"/>
          <p:cNvSpPr/>
          <p:nvPr/>
        </p:nvSpPr>
        <p:spPr>
          <a:xfrm>
            <a:off x="804672" y="2386584"/>
            <a:ext cx="5522976" cy="35661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E2A28"/>
                </a:solidFill>
                <a:latin typeface="Calibri" pitchFamily="34" charset="0"/>
                <a:ea typeface="Calibri" pitchFamily="34" charset="-122"/>
                <a:cs typeface="Calibri" pitchFamily="34" charset="-120"/>
              </a:rPr>
              <a:t>Muchas personas tienen prediabetes o diabetes sin saberlo.</a:t>
            </a:r>
            <a:endParaRPr lang="en-US" sz="1250" dirty="0"/>
          </a:p>
          <a:p>
            <a:pPr marL="342900" indent="-342900">
              <a:spcAft>
                <a:spcPts val="600"/>
              </a:spcAft>
              <a:buSzPct val="100000"/>
              <a:buChar char="•"/>
            </a:pPr>
            <a:r>
              <a:rPr lang="en-US" sz="1250" dirty="0">
                <a:solidFill>
                  <a:srgbClr val="1E2A28"/>
                </a:solidFill>
                <a:latin typeface="Calibri" pitchFamily="34" charset="0"/>
                <a:ea typeface="Calibri" pitchFamily="34" charset="-122"/>
                <a:cs typeface="Calibri" pitchFamily="34" charset="-120"/>
              </a:rPr>
              <a:t>Factores como presión alta, colesterol, sobrepeso o inactividad se obtienen con preguntas simples, sin laboratorio.</a:t>
            </a:r>
            <a:endParaRPr lang="en-US" sz="1250" dirty="0"/>
          </a:p>
          <a:p>
            <a:pPr marL="342900" indent="-342900">
              <a:spcAft>
                <a:spcPts val="600"/>
              </a:spcAft>
              <a:buSzPct val="100000"/>
              <a:buChar char="•"/>
            </a:pPr>
            <a:r>
              <a:rPr lang="en-US" sz="1250" dirty="0">
                <a:solidFill>
                  <a:srgbClr val="1E2A28"/>
                </a:solidFill>
                <a:latin typeface="Calibri" pitchFamily="34" charset="0"/>
                <a:ea typeface="Calibri" pitchFamily="34" charset="-122"/>
                <a:cs typeface="Calibri" pitchFamily="34" charset="-120"/>
              </a:rPr>
              <a:t>Objetivo: clasificar a una persona en sin diabetes, prediabetes o diabetes para decidir a quién recomendar una prueba médica.</a:t>
            </a:r>
            <a:endParaRPr lang="en-US" sz="1250" dirty="0"/>
          </a:p>
        </p:txBody>
      </p:sp>
      <p:sp>
        <p:nvSpPr>
          <p:cNvPr id="9" name="Shape 7"/>
          <p:cNvSpPr/>
          <p:nvPr/>
        </p:nvSpPr>
        <p:spPr>
          <a:xfrm>
            <a:off x="6876288" y="1783080"/>
            <a:ext cx="4736592" cy="2048256"/>
          </a:xfrm>
          <a:prstGeom prst="roundRect">
            <a:avLst>
              <a:gd name="adj" fmla="val 2232"/>
            </a:avLst>
          </a:prstGeom>
          <a:solidFill>
            <a:srgbClr val="EEF4EF"/>
          </a:solidFill>
          <a:ln w="9525">
            <a:solidFill>
              <a:srgbClr val="D4E2D6"/>
            </a:solidFill>
            <a:prstDash val="solid"/>
          </a:ln>
        </p:spPr>
      </p:sp>
      <p:sp>
        <p:nvSpPr>
          <p:cNvPr id="10" name="Text 8"/>
          <p:cNvSpPr/>
          <p:nvPr/>
        </p:nvSpPr>
        <p:spPr>
          <a:xfrm>
            <a:off x="7132320" y="1984248"/>
            <a:ext cx="4224528" cy="347472"/>
          </a:xfrm>
          <a:prstGeom prst="rect">
            <a:avLst/>
          </a:prstGeom>
          <a:noFill/>
          <a:ln/>
        </p:spPr>
        <p:txBody>
          <a:bodyPr wrap="square" lIns="0" tIns="0" rIns="0" bIns="0" rtlCol="0" anchor="ctr"/>
          <a:lstStyle/>
          <a:p>
            <a:pPr indent="0" marL="0">
              <a:buNone/>
            </a:pPr>
            <a:r>
              <a:rPr lang="en-US" sz="1300" b="1" dirty="0">
                <a:solidFill>
                  <a:srgbClr val="0E4D45"/>
                </a:solidFill>
                <a:latin typeface="Calibri" pitchFamily="34" charset="0"/>
                <a:ea typeface="Calibri" pitchFamily="34" charset="-122"/>
                <a:cs typeface="Calibri" pitchFamily="34" charset="-120"/>
              </a:rPr>
              <a:t>Variable objetivo</a:t>
            </a:r>
            <a:endParaRPr lang="en-US" sz="1300" dirty="0"/>
          </a:p>
        </p:txBody>
      </p:sp>
      <p:sp>
        <p:nvSpPr>
          <p:cNvPr id="11" name="Text 9"/>
          <p:cNvSpPr/>
          <p:nvPr/>
        </p:nvSpPr>
        <p:spPr>
          <a:xfrm>
            <a:off x="7132320" y="2386584"/>
            <a:ext cx="4224528" cy="1225296"/>
          </a:xfrm>
          <a:prstGeom prst="rect">
            <a:avLst/>
          </a:prstGeom>
          <a:noFill/>
          <a:ln/>
        </p:spPr>
        <p:txBody>
          <a:bodyPr wrap="square" lIns="0" tIns="0" rIns="0" bIns="0" rtlCol="0" anchor="t"/>
          <a:lstStyle/>
          <a:p>
            <a:pPr indent="0" marL="0">
              <a:buNone/>
            </a:pPr>
            <a:r>
              <a:rPr lang="en-US" sz="1250" dirty="0">
                <a:solidFill>
                  <a:srgbClr val="1E2A28"/>
                </a:solidFill>
                <a:latin typeface="Calibri" pitchFamily="34" charset="0"/>
                <a:ea typeface="Calibri" pitchFamily="34" charset="-122"/>
                <a:cs typeface="Calibri" pitchFamily="34" charset="-120"/>
              </a:rPr>
              <a:t>Diabetes_012: 0 sin diabetes, 1 prediabetes, 2 diabetes. Diagnóstico reportado por la persona.</a:t>
            </a:r>
            <a:endParaRPr lang="en-US" sz="1250" dirty="0"/>
          </a:p>
        </p:txBody>
      </p:sp>
      <p:sp>
        <p:nvSpPr>
          <p:cNvPr id="12" name="Shape 10"/>
          <p:cNvSpPr/>
          <p:nvPr/>
        </p:nvSpPr>
        <p:spPr>
          <a:xfrm>
            <a:off x="6876288" y="4123944"/>
            <a:ext cx="4736592" cy="2048256"/>
          </a:xfrm>
          <a:prstGeom prst="roundRect">
            <a:avLst>
              <a:gd name="adj" fmla="val 2232"/>
            </a:avLst>
          </a:prstGeom>
          <a:solidFill>
            <a:srgbClr val="EEF4EF"/>
          </a:solidFill>
          <a:ln w="9525">
            <a:solidFill>
              <a:srgbClr val="D4E2D6"/>
            </a:solidFill>
            <a:prstDash val="solid"/>
          </a:ln>
        </p:spPr>
      </p:sp>
      <p:sp>
        <p:nvSpPr>
          <p:cNvPr id="13" name="Text 11"/>
          <p:cNvSpPr/>
          <p:nvPr/>
        </p:nvSpPr>
        <p:spPr>
          <a:xfrm>
            <a:off x="7132320" y="4325112"/>
            <a:ext cx="4224528" cy="347472"/>
          </a:xfrm>
          <a:prstGeom prst="rect">
            <a:avLst/>
          </a:prstGeom>
          <a:noFill/>
          <a:ln/>
        </p:spPr>
        <p:txBody>
          <a:bodyPr wrap="square" lIns="0" tIns="0" rIns="0" bIns="0" rtlCol="0" anchor="ctr"/>
          <a:lstStyle/>
          <a:p>
            <a:pPr indent="0" marL="0">
              <a:buNone/>
            </a:pPr>
            <a:r>
              <a:rPr lang="en-US" sz="1300" b="1" dirty="0">
                <a:solidFill>
                  <a:srgbClr val="3F8A26"/>
                </a:solidFill>
                <a:latin typeface="Calibri" pitchFamily="34" charset="0"/>
                <a:ea typeface="Calibri" pitchFamily="34" charset="-122"/>
                <a:cs typeface="Calibri" pitchFamily="34" charset="-120"/>
              </a:rPr>
              <a:t>Métrica principal</a:t>
            </a:r>
            <a:endParaRPr lang="en-US" sz="1300" dirty="0"/>
          </a:p>
        </p:txBody>
      </p:sp>
      <p:sp>
        <p:nvSpPr>
          <p:cNvPr id="14" name="Text 12"/>
          <p:cNvSpPr/>
          <p:nvPr/>
        </p:nvSpPr>
        <p:spPr>
          <a:xfrm>
            <a:off x="7132320" y="4727448"/>
            <a:ext cx="4224528" cy="1225296"/>
          </a:xfrm>
          <a:prstGeom prst="rect">
            <a:avLst/>
          </a:prstGeom>
          <a:noFill/>
          <a:ln/>
        </p:spPr>
        <p:txBody>
          <a:bodyPr wrap="square" lIns="0" tIns="0" rIns="0" bIns="0" rtlCol="0" anchor="t"/>
          <a:lstStyle/>
          <a:p>
            <a:pPr indent="0" marL="0">
              <a:buNone/>
            </a:pPr>
            <a:r>
              <a:rPr lang="en-US" sz="1250" dirty="0">
                <a:solidFill>
                  <a:srgbClr val="1E2A28"/>
                </a:solidFill>
                <a:latin typeface="Calibri" pitchFamily="34" charset="0"/>
                <a:ea typeface="Calibri" pitchFamily="34" charset="-122"/>
                <a:cs typeface="Calibri" pitchFamily="34" charset="-120"/>
              </a:rPr>
              <a:t>F1 macro: promedia las tres clases por igual, así que no premia predecir siempre la clase mayoritaria.</a:t>
            </a:r>
            <a:endParaRPr lang="en-US" sz="1250" dirty="0"/>
          </a:p>
        </p:txBody>
      </p:sp>
      <p:sp>
        <p:nvSpPr>
          <p:cNvPr id="16" name="Text 13"/>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1000" dirty="0">
                <a:solidFill>
                  <a:srgbClr val="7F8F8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420624"/>
            <a:ext cx="402336" cy="402336"/>
          </a:xfrm>
          <a:prstGeom prst="ellipse">
            <a:avLst/>
          </a:prstGeom>
          <a:solidFill>
            <a:srgbClr val="0E4D45"/>
          </a:solidFill>
          <a:ln/>
        </p:spPr>
      </p:sp>
      <p:sp>
        <p:nvSpPr>
          <p:cNvPr id="3" name="Text 1"/>
          <p:cNvSpPr/>
          <p:nvPr/>
        </p:nvSpPr>
        <p:spPr>
          <a:xfrm>
            <a:off x="548640" y="42062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4" name="Text 2"/>
          <p:cNvSpPr/>
          <p:nvPr/>
        </p:nvSpPr>
        <p:spPr>
          <a:xfrm>
            <a:off x="1097280" y="457200"/>
            <a:ext cx="9601200" cy="329184"/>
          </a:xfrm>
          <a:prstGeom prst="rect">
            <a:avLst/>
          </a:prstGeom>
          <a:noFill/>
          <a:ln/>
        </p:spPr>
        <p:txBody>
          <a:bodyPr wrap="square" lIns="0" tIns="0" rIns="0" bIns="0" rtlCol="0" anchor="ctr"/>
          <a:lstStyle/>
          <a:p>
            <a:pPr indent="0" marL="0">
              <a:buNone/>
            </a:pPr>
            <a:r>
              <a:rPr lang="en-US" sz="1100" b="1" spc="140" kern="0" dirty="0">
                <a:solidFill>
                  <a:srgbClr val="3F8A26"/>
                </a:solidFill>
                <a:latin typeface="Calibri" pitchFamily="34" charset="0"/>
                <a:ea typeface="Calibri" pitchFamily="34" charset="-122"/>
                <a:cs typeface="Calibri" pitchFamily="34" charset="-120"/>
              </a:rPr>
              <a:t>DATOS | ORIGEN</a:t>
            </a:r>
            <a:endParaRPr lang="en-US" sz="1100" dirty="0"/>
          </a:p>
        </p:txBody>
      </p:sp>
      <p:sp>
        <p:nvSpPr>
          <p:cNvPr id="5" name="Text 3"/>
          <p:cNvSpPr/>
          <p:nvPr/>
        </p:nvSpPr>
        <p:spPr>
          <a:xfrm>
            <a:off x="548640" y="960120"/>
            <a:ext cx="11064240" cy="658368"/>
          </a:xfrm>
          <a:prstGeom prst="rect">
            <a:avLst/>
          </a:prstGeom>
          <a:noFill/>
          <a:ln/>
        </p:spPr>
        <p:txBody>
          <a:bodyPr wrap="square" lIns="0" tIns="0" rIns="0" bIns="0" rtlCol="0" anchor="t"/>
          <a:lstStyle/>
          <a:p>
            <a:pPr indent="0" marL="0">
              <a:buNone/>
            </a:pPr>
            <a:r>
              <a:rPr lang="en-US" sz="2600" b="1" dirty="0">
                <a:solidFill>
                  <a:srgbClr val="0E4D45"/>
                </a:solidFill>
                <a:latin typeface="Cambria" pitchFamily="34" charset="0"/>
                <a:ea typeface="Cambria" pitchFamily="34" charset="-122"/>
                <a:cs typeface="Cambria" pitchFamily="34" charset="-120"/>
              </a:rPr>
              <a:t>CDC Diabetes Health Indicators (BRFSS 2015)</a:t>
            </a:r>
            <a:endParaRPr lang="en-US" sz="2600" dirty="0"/>
          </a:p>
        </p:txBody>
      </p:sp>
      <p:pic>
        <p:nvPicPr>
          <p:cNvPr id="6" name="Image 0" descr="/private/tmp/claude-501/-Users-fabianprado-Documents-projects-2026---2--ai-proyecto2/d453a1b3-ccc3-45e2-95e4-06fb0c8b1ac2/scratchpad/figs/eda_objetivo.png">    </p:cNvPr>
          <p:cNvPicPr>
            <a:picLocks noChangeAspect="1"/>
          </p:cNvPicPr>
          <p:nvPr/>
        </p:nvPicPr>
        <p:blipFill>
          <a:blip r:embed="rId1"/>
          <a:stretch>
            <a:fillRect/>
          </a:stretch>
        </p:blipFill>
        <p:spPr>
          <a:xfrm>
            <a:off x="548640" y="2273789"/>
            <a:ext cx="5852160" cy="3407702"/>
          </a:xfrm>
          <a:prstGeom prst="rect">
            <a:avLst/>
          </a:prstGeom>
        </p:spPr>
      </p:pic>
      <p:sp>
        <p:nvSpPr>
          <p:cNvPr id="7" name="Shape 4"/>
          <p:cNvSpPr/>
          <p:nvPr/>
        </p:nvSpPr>
        <p:spPr>
          <a:xfrm>
            <a:off x="6693408" y="1783080"/>
            <a:ext cx="4919472" cy="4389120"/>
          </a:xfrm>
          <a:prstGeom prst="roundRect">
            <a:avLst>
              <a:gd name="adj" fmla="val 1042"/>
            </a:avLst>
          </a:prstGeom>
          <a:solidFill>
            <a:srgbClr val="EEF4EF"/>
          </a:solidFill>
          <a:ln w="9525">
            <a:solidFill>
              <a:srgbClr val="D4E2D6"/>
            </a:solidFill>
            <a:prstDash val="solid"/>
          </a:ln>
        </p:spPr>
      </p:sp>
      <p:sp>
        <p:nvSpPr>
          <p:cNvPr id="8" name="Text 5"/>
          <p:cNvSpPr/>
          <p:nvPr/>
        </p:nvSpPr>
        <p:spPr>
          <a:xfrm>
            <a:off x="6949440" y="1984248"/>
            <a:ext cx="4407408" cy="347472"/>
          </a:xfrm>
          <a:prstGeom prst="rect">
            <a:avLst/>
          </a:prstGeom>
          <a:noFill/>
          <a:ln/>
        </p:spPr>
        <p:txBody>
          <a:bodyPr wrap="square" lIns="0" tIns="0" rIns="0" bIns="0" rtlCol="0" anchor="ctr"/>
          <a:lstStyle/>
          <a:p>
            <a:pPr indent="0" marL="0">
              <a:buNone/>
            </a:pPr>
            <a:r>
              <a:rPr lang="en-US" sz="1300" b="1" dirty="0">
                <a:solidFill>
                  <a:srgbClr val="0E4D45"/>
                </a:solidFill>
                <a:latin typeface="Calibri" pitchFamily="34" charset="0"/>
                <a:ea typeface="Calibri" pitchFamily="34" charset="-122"/>
                <a:cs typeface="Calibri" pitchFamily="34" charset="-120"/>
              </a:rPr>
              <a:t>El dataset</a:t>
            </a:r>
            <a:endParaRPr lang="en-US" sz="1300" dirty="0"/>
          </a:p>
        </p:txBody>
      </p:sp>
      <p:sp>
        <p:nvSpPr>
          <p:cNvPr id="9" name="Text 6"/>
          <p:cNvSpPr/>
          <p:nvPr/>
        </p:nvSpPr>
        <p:spPr>
          <a:xfrm>
            <a:off x="6949440" y="2386584"/>
            <a:ext cx="4407408" cy="35661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E2A28"/>
                </a:solidFill>
                <a:latin typeface="Calibri" pitchFamily="34" charset="0"/>
                <a:ea typeface="Calibri" pitchFamily="34" charset="-122"/>
                <a:cs typeface="Calibri" pitchFamily="34" charset="-120"/>
              </a:rPr>
              <a:t>253,680 respuestas de la encuesta BRFSS 2015 del CDC.</a:t>
            </a:r>
            <a:endParaRPr lang="en-US" sz="1250" dirty="0"/>
          </a:p>
          <a:p>
            <a:pPr marL="342900" indent="-342900">
              <a:spcAft>
                <a:spcPts val="600"/>
              </a:spcAft>
              <a:buSzPct val="100000"/>
              <a:buChar char="•"/>
            </a:pPr>
            <a:r>
              <a:rPr lang="en-US" sz="1250" dirty="0">
                <a:solidFill>
                  <a:srgbClr val="1E2A28"/>
                </a:solidFill>
                <a:latin typeface="Calibri" pitchFamily="34" charset="0"/>
                <a:ea typeface="Calibri" pitchFamily="34" charset="-122"/>
                <a:cs typeface="Calibri" pitchFamily="34" charset="-120"/>
              </a:rPr>
              <a:t>21 predictoras: 14 binarias, 4 ordinales y 3 numéricas.</a:t>
            </a:r>
            <a:endParaRPr lang="en-US" sz="1250" dirty="0"/>
          </a:p>
          <a:p>
            <a:pPr marL="342900" indent="-342900">
              <a:spcAft>
                <a:spcPts val="600"/>
              </a:spcAft>
              <a:buSzPct val="100000"/>
              <a:buChar char="•"/>
            </a:pPr>
            <a:r>
              <a:rPr lang="en-US" sz="1250" dirty="0">
                <a:solidFill>
                  <a:srgbClr val="1E2A28"/>
                </a:solidFill>
                <a:latin typeface="Calibri" pitchFamily="34" charset="0"/>
                <a:ea typeface="Calibri" pitchFamily="34" charset="-122"/>
                <a:cs typeface="Calibri" pitchFamily="34" charset="-120"/>
              </a:rPr>
              <a:t>UCI #891 (CC BY 4.0); versión de 3 clases de Kaggle (CC0).</a:t>
            </a:r>
            <a:endParaRPr lang="en-US" sz="1250" dirty="0"/>
          </a:p>
          <a:p>
            <a:pPr marL="342900" indent="-342900">
              <a:spcAft>
                <a:spcPts val="600"/>
              </a:spcAft>
              <a:buSzPct val="100000"/>
              <a:buChar char="•"/>
            </a:pPr>
            <a:r>
              <a:rPr lang="en-US" sz="1250" dirty="0">
                <a:solidFill>
                  <a:srgbClr val="1E2A28"/>
                </a:solidFill>
                <a:latin typeface="Calibri" pitchFamily="34" charset="0"/>
                <a:ea typeface="Calibri" pitchFamily="34" charset="-122"/>
                <a:cs typeface="Calibri" pitchFamily="34" charset="-120"/>
              </a:rPr>
              <a:t>Sin faltantes; 9.4% de filas duplicadas, que conservamos.</a:t>
            </a:r>
            <a:endParaRPr lang="en-US" sz="1250" dirty="0"/>
          </a:p>
          <a:p>
            <a:pPr marL="342900" indent="-342900">
              <a:spcAft>
                <a:spcPts val="600"/>
              </a:spcAft>
              <a:buSzPct val="100000"/>
              <a:buChar char="•"/>
            </a:pPr>
            <a:r>
              <a:rPr lang="en-US" sz="1250" dirty="0">
                <a:solidFill>
                  <a:srgbClr val="1E2A28"/>
                </a:solidFill>
                <a:latin typeface="Calibri" pitchFamily="34" charset="0"/>
                <a:ea typeface="Calibri" pitchFamily="34" charset="-122"/>
                <a:cs typeface="Calibri" pitchFamily="34" charset="-120"/>
              </a:rPr>
              <a:t>84.2% sin diabetes, 13.9% diabetes y solo 1.8% prediabetes: 46 sanos por cada persona con prediabetes.</a:t>
            </a:r>
            <a:endParaRPr lang="en-US" sz="1250" dirty="0"/>
          </a:p>
        </p:txBody>
      </p:sp>
      <p:sp>
        <p:nvSpPr>
          <p:cNvPr id="11" name="Text 7"/>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1000" dirty="0">
                <a:solidFill>
                  <a:srgbClr val="7F8F8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420624"/>
            <a:ext cx="402336" cy="402336"/>
          </a:xfrm>
          <a:prstGeom prst="ellipse">
            <a:avLst/>
          </a:prstGeom>
          <a:solidFill>
            <a:srgbClr val="0E4D45"/>
          </a:solidFill>
          <a:ln/>
        </p:spPr>
      </p:sp>
      <p:sp>
        <p:nvSpPr>
          <p:cNvPr id="3" name="Text 1"/>
          <p:cNvSpPr/>
          <p:nvPr/>
        </p:nvSpPr>
        <p:spPr>
          <a:xfrm>
            <a:off x="548640" y="42062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4" name="Text 2"/>
          <p:cNvSpPr/>
          <p:nvPr/>
        </p:nvSpPr>
        <p:spPr>
          <a:xfrm>
            <a:off x="1097280" y="457200"/>
            <a:ext cx="9601200" cy="329184"/>
          </a:xfrm>
          <a:prstGeom prst="rect">
            <a:avLst/>
          </a:prstGeom>
          <a:noFill/>
          <a:ln/>
        </p:spPr>
        <p:txBody>
          <a:bodyPr wrap="square" lIns="0" tIns="0" rIns="0" bIns="0" rtlCol="0" anchor="ctr"/>
          <a:lstStyle/>
          <a:p>
            <a:pPr indent="0" marL="0">
              <a:buNone/>
            </a:pPr>
            <a:r>
              <a:rPr lang="en-US" sz="1100" b="1" spc="140" kern="0" dirty="0">
                <a:solidFill>
                  <a:srgbClr val="3F8A26"/>
                </a:solidFill>
                <a:latin typeface="Calibri" pitchFamily="34" charset="0"/>
                <a:ea typeface="Calibri" pitchFamily="34" charset="-122"/>
                <a:cs typeface="Calibri" pitchFamily="34" charset="-120"/>
              </a:rPr>
              <a:t>DATOS | EXPLORACIÓN</a:t>
            </a:r>
            <a:endParaRPr lang="en-US" sz="1100" dirty="0"/>
          </a:p>
        </p:txBody>
      </p:sp>
      <p:sp>
        <p:nvSpPr>
          <p:cNvPr id="5" name="Text 3"/>
          <p:cNvSpPr/>
          <p:nvPr/>
        </p:nvSpPr>
        <p:spPr>
          <a:xfrm>
            <a:off x="548640" y="960120"/>
            <a:ext cx="11064240" cy="658368"/>
          </a:xfrm>
          <a:prstGeom prst="rect">
            <a:avLst/>
          </a:prstGeom>
          <a:noFill/>
          <a:ln/>
        </p:spPr>
        <p:txBody>
          <a:bodyPr wrap="square" lIns="0" tIns="0" rIns="0" bIns="0" rtlCol="0" anchor="t"/>
          <a:lstStyle/>
          <a:p>
            <a:pPr indent="0" marL="0">
              <a:buNone/>
            </a:pPr>
            <a:r>
              <a:rPr lang="en-US" sz="2600" b="1" dirty="0">
                <a:solidFill>
                  <a:srgbClr val="0E4D45"/>
                </a:solidFill>
                <a:latin typeface="Cambria" pitchFamily="34" charset="0"/>
                <a:ea typeface="Cambria" pitchFamily="34" charset="-122"/>
                <a:cs typeface="Cambria" pitchFamily="34" charset="-120"/>
              </a:rPr>
              <a:t>La prediabetes queda entre las otras dos clases</a:t>
            </a:r>
            <a:endParaRPr lang="en-US" sz="2600" dirty="0"/>
          </a:p>
        </p:txBody>
      </p:sp>
      <p:pic>
        <p:nvPicPr>
          <p:cNvPr id="6" name="Image 0" descr="/private/tmp/claude-501/-Users-fabianprado-Documents-projects-2026---2--ai-proyecto2/d453a1b3-ccc3-45e2-95e4-06fb0c8b1ac2/scratchpad/figs/eda_factores.png">    </p:cNvPr>
          <p:cNvPicPr>
            <a:picLocks noChangeAspect="1"/>
          </p:cNvPicPr>
          <p:nvPr/>
        </p:nvPicPr>
        <p:blipFill>
          <a:blip r:embed="rId1"/>
          <a:stretch>
            <a:fillRect/>
          </a:stretch>
        </p:blipFill>
        <p:spPr>
          <a:xfrm>
            <a:off x="548640" y="2262459"/>
            <a:ext cx="5852160" cy="3430362"/>
          </a:xfrm>
          <a:prstGeom prst="rect">
            <a:avLst/>
          </a:prstGeom>
        </p:spPr>
      </p:pic>
      <p:sp>
        <p:nvSpPr>
          <p:cNvPr id="7" name="Shape 4"/>
          <p:cNvSpPr/>
          <p:nvPr/>
        </p:nvSpPr>
        <p:spPr>
          <a:xfrm>
            <a:off x="6693408" y="1783080"/>
            <a:ext cx="4919472" cy="4389120"/>
          </a:xfrm>
          <a:prstGeom prst="roundRect">
            <a:avLst>
              <a:gd name="adj" fmla="val 1042"/>
            </a:avLst>
          </a:prstGeom>
          <a:solidFill>
            <a:srgbClr val="EEF4EF"/>
          </a:solidFill>
          <a:ln w="9525">
            <a:solidFill>
              <a:srgbClr val="D4E2D6"/>
            </a:solidFill>
            <a:prstDash val="solid"/>
          </a:ln>
        </p:spPr>
      </p:sp>
      <p:sp>
        <p:nvSpPr>
          <p:cNvPr id="8" name="Text 5"/>
          <p:cNvSpPr/>
          <p:nvPr/>
        </p:nvSpPr>
        <p:spPr>
          <a:xfrm>
            <a:off x="6949440" y="1984248"/>
            <a:ext cx="4407408" cy="347472"/>
          </a:xfrm>
          <a:prstGeom prst="rect">
            <a:avLst/>
          </a:prstGeom>
          <a:noFill/>
          <a:ln/>
        </p:spPr>
        <p:txBody>
          <a:bodyPr wrap="square" lIns="0" tIns="0" rIns="0" bIns="0" rtlCol="0" anchor="ctr"/>
          <a:lstStyle/>
          <a:p>
            <a:pPr indent="0" marL="0">
              <a:buNone/>
            </a:pPr>
            <a:r>
              <a:rPr lang="en-US" sz="1300" b="1" dirty="0">
                <a:solidFill>
                  <a:srgbClr val="0E4D45"/>
                </a:solidFill>
                <a:latin typeface="Calibri" pitchFamily="34" charset="0"/>
                <a:ea typeface="Calibri" pitchFamily="34" charset="-122"/>
                <a:cs typeface="Calibri" pitchFamily="34" charset="-120"/>
              </a:rPr>
              <a:t>Qué encontramos</a:t>
            </a:r>
            <a:endParaRPr lang="en-US" sz="1300" dirty="0"/>
          </a:p>
        </p:txBody>
      </p:sp>
      <p:sp>
        <p:nvSpPr>
          <p:cNvPr id="9" name="Text 6"/>
          <p:cNvSpPr/>
          <p:nvPr/>
        </p:nvSpPr>
        <p:spPr>
          <a:xfrm>
            <a:off x="6949440" y="2386584"/>
            <a:ext cx="4407408" cy="35661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E2A28"/>
                </a:solidFill>
                <a:latin typeface="Calibri" pitchFamily="34" charset="0"/>
                <a:ea typeface="Calibri" pitchFamily="34" charset="-122"/>
                <a:cs typeface="Calibri" pitchFamily="34" charset="-120"/>
              </a:rPr>
              <a:t>Presión alta: 37% sin diabetes, 63% prediabetes, 75% diabetes.</a:t>
            </a:r>
            <a:endParaRPr lang="en-US" sz="1250" dirty="0"/>
          </a:p>
          <a:p>
            <a:pPr marL="342900" indent="-342900">
              <a:spcAft>
                <a:spcPts val="600"/>
              </a:spcAft>
              <a:buSzPct val="100000"/>
              <a:buChar char="•"/>
            </a:pPr>
            <a:r>
              <a:rPr lang="en-US" sz="1250" dirty="0">
                <a:solidFill>
                  <a:srgbClr val="1E2A28"/>
                </a:solidFill>
                <a:latin typeface="Calibri" pitchFamily="34" charset="0"/>
                <a:ea typeface="Calibri" pitchFamily="34" charset="-122"/>
                <a:cs typeface="Calibri" pitchFamily="34" charset="-120"/>
              </a:rPr>
              <a:t>IMC mediano: 27, 30 y 31; separa a los sanos, no prediabetes de diabetes.</a:t>
            </a:r>
            <a:endParaRPr lang="en-US" sz="1250" dirty="0"/>
          </a:p>
          <a:p>
            <a:pPr marL="342900" indent="-342900">
              <a:spcAft>
                <a:spcPts val="600"/>
              </a:spcAft>
              <a:buSzPct val="100000"/>
              <a:buChar char="•"/>
            </a:pPr>
            <a:r>
              <a:rPr lang="en-US" sz="1250" dirty="0">
                <a:solidFill>
                  <a:srgbClr val="1E2A28"/>
                </a:solidFill>
                <a:latin typeface="Calibri" pitchFamily="34" charset="0"/>
                <a:ea typeface="Calibri" pitchFamily="34" charset="-122"/>
                <a:cs typeface="Calibri" pitchFamily="34" charset="-120"/>
              </a:rPr>
              <a:t>Spearman con la objetivo: salud general 0.30, presión alta 0.27, IMC 0.24.</a:t>
            </a:r>
            <a:endParaRPr lang="en-US" sz="1250" dirty="0"/>
          </a:p>
          <a:p>
            <a:pPr marL="342900" indent="-342900">
              <a:spcAft>
                <a:spcPts val="600"/>
              </a:spcAft>
              <a:buSzPct val="100000"/>
              <a:buChar char="•"/>
            </a:pPr>
            <a:r>
              <a:rPr lang="en-US" sz="1250" dirty="0">
                <a:solidFill>
                  <a:srgbClr val="1E2A28"/>
                </a:solidFill>
                <a:latin typeface="Calibri" pitchFamily="34" charset="0"/>
                <a:ea typeface="Calibri" pitchFamily="34" charset="-122"/>
                <a:cs typeface="Calibri" pitchFamily="34" charset="-120"/>
              </a:rPr>
              <a:t>Ninguna variable separa las clases sola; entre predictoras el máximo es 0.45, así que conservamos las 21.</a:t>
            </a:r>
            <a:endParaRPr lang="en-US" sz="1250" dirty="0"/>
          </a:p>
        </p:txBody>
      </p:sp>
      <p:sp>
        <p:nvSpPr>
          <p:cNvPr id="11" name="Text 7"/>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1000" dirty="0">
                <a:solidFill>
                  <a:srgbClr val="7F8F8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420624"/>
            <a:ext cx="402336" cy="402336"/>
          </a:xfrm>
          <a:prstGeom prst="ellipse">
            <a:avLst/>
          </a:prstGeom>
          <a:solidFill>
            <a:srgbClr val="0E4D45"/>
          </a:solidFill>
          <a:ln/>
        </p:spPr>
      </p:sp>
      <p:sp>
        <p:nvSpPr>
          <p:cNvPr id="3" name="Text 1"/>
          <p:cNvSpPr/>
          <p:nvPr/>
        </p:nvSpPr>
        <p:spPr>
          <a:xfrm>
            <a:off x="548640" y="42062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4" name="Text 2"/>
          <p:cNvSpPr/>
          <p:nvPr/>
        </p:nvSpPr>
        <p:spPr>
          <a:xfrm>
            <a:off x="1097280" y="457200"/>
            <a:ext cx="9601200" cy="329184"/>
          </a:xfrm>
          <a:prstGeom prst="rect">
            <a:avLst/>
          </a:prstGeom>
          <a:noFill/>
          <a:ln/>
        </p:spPr>
        <p:txBody>
          <a:bodyPr wrap="square" lIns="0" tIns="0" rIns="0" bIns="0" rtlCol="0" anchor="ctr"/>
          <a:lstStyle/>
          <a:p>
            <a:pPr indent="0" marL="0">
              <a:buNone/>
            </a:pPr>
            <a:r>
              <a:rPr lang="en-US" sz="1100" b="1" spc="140" kern="0" dirty="0">
                <a:solidFill>
                  <a:srgbClr val="3F8A26"/>
                </a:solidFill>
                <a:latin typeface="Calibri" pitchFamily="34" charset="0"/>
                <a:ea typeface="Calibri" pitchFamily="34" charset="-122"/>
                <a:cs typeface="Calibri" pitchFamily="34" charset="-120"/>
              </a:rPr>
              <a:t>PREPROCESAMIENTO | DECISIONES</a:t>
            </a:r>
            <a:endParaRPr lang="en-US" sz="1100" dirty="0"/>
          </a:p>
        </p:txBody>
      </p:sp>
      <p:sp>
        <p:nvSpPr>
          <p:cNvPr id="5" name="Text 3"/>
          <p:cNvSpPr/>
          <p:nvPr/>
        </p:nvSpPr>
        <p:spPr>
          <a:xfrm>
            <a:off x="548640" y="960120"/>
            <a:ext cx="11064240" cy="658368"/>
          </a:xfrm>
          <a:prstGeom prst="rect">
            <a:avLst/>
          </a:prstGeom>
          <a:noFill/>
          <a:ln/>
        </p:spPr>
        <p:txBody>
          <a:bodyPr wrap="square" lIns="0" tIns="0" rIns="0" bIns="0" rtlCol="0" anchor="t"/>
          <a:lstStyle/>
          <a:p>
            <a:pPr indent="0" marL="0">
              <a:buNone/>
            </a:pPr>
            <a:r>
              <a:rPr lang="en-US" sz="2600" b="1" dirty="0">
                <a:solidFill>
                  <a:srgbClr val="0E4D45"/>
                </a:solidFill>
                <a:latin typeface="Cambria" pitchFamily="34" charset="0"/>
                <a:ea typeface="Cambria" pitchFamily="34" charset="-122"/>
                <a:cs typeface="Cambria" pitchFamily="34" charset="-120"/>
              </a:rPr>
              <a:t>Cada decisión responde a un hallazgo del EDA</a:t>
            </a:r>
            <a:endParaRPr lang="en-US" sz="2600" dirty="0"/>
          </a:p>
        </p:txBody>
      </p:sp>
      <p:sp>
        <p:nvSpPr>
          <p:cNvPr id="6" name="Shape 4"/>
          <p:cNvSpPr/>
          <p:nvPr/>
        </p:nvSpPr>
        <p:spPr>
          <a:xfrm>
            <a:off x="548640" y="1783080"/>
            <a:ext cx="5385816" cy="2048256"/>
          </a:xfrm>
          <a:prstGeom prst="roundRect">
            <a:avLst>
              <a:gd name="adj" fmla="val 2232"/>
            </a:avLst>
          </a:prstGeom>
          <a:solidFill>
            <a:srgbClr val="EEF4EF"/>
          </a:solidFill>
          <a:ln w="9525">
            <a:solidFill>
              <a:srgbClr val="D4E2D6"/>
            </a:solidFill>
            <a:prstDash val="solid"/>
          </a:ln>
        </p:spPr>
      </p:sp>
      <p:sp>
        <p:nvSpPr>
          <p:cNvPr id="7" name="Shape 5"/>
          <p:cNvSpPr/>
          <p:nvPr/>
        </p:nvSpPr>
        <p:spPr>
          <a:xfrm>
            <a:off x="804672" y="2002536"/>
            <a:ext cx="329184" cy="329184"/>
          </a:xfrm>
          <a:prstGeom prst="ellipse">
            <a:avLst/>
          </a:prstGeom>
          <a:solidFill>
            <a:srgbClr val="3F8A26"/>
          </a:solidFill>
          <a:ln/>
        </p:spPr>
      </p:sp>
      <p:sp>
        <p:nvSpPr>
          <p:cNvPr id="8" name="Text 6"/>
          <p:cNvSpPr/>
          <p:nvPr/>
        </p:nvSpPr>
        <p:spPr>
          <a:xfrm>
            <a:off x="804672" y="20025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43584" y="1984248"/>
            <a:ext cx="4434840" cy="347472"/>
          </a:xfrm>
          <a:prstGeom prst="rect">
            <a:avLst/>
          </a:prstGeom>
          <a:noFill/>
          <a:ln/>
        </p:spPr>
        <p:txBody>
          <a:bodyPr wrap="square" lIns="0" tIns="0" rIns="0" bIns="0" rtlCol="0" anchor="ctr"/>
          <a:lstStyle/>
          <a:p>
            <a:pPr indent="0" marL="0">
              <a:buNone/>
            </a:pPr>
            <a:r>
              <a:rPr lang="en-US" sz="1300" b="1" dirty="0">
                <a:solidFill>
                  <a:srgbClr val="0E4D45"/>
                </a:solidFill>
                <a:latin typeface="Calibri" pitchFamily="34" charset="0"/>
                <a:ea typeface="Calibri" pitchFamily="34" charset="-122"/>
                <a:cs typeface="Calibri" pitchFamily="34" charset="-120"/>
              </a:rPr>
              <a:t>Partición</a:t>
            </a:r>
            <a:endParaRPr lang="en-US" sz="1300" dirty="0"/>
          </a:p>
        </p:txBody>
      </p:sp>
      <p:sp>
        <p:nvSpPr>
          <p:cNvPr id="10" name="Text 8"/>
          <p:cNvSpPr/>
          <p:nvPr/>
        </p:nvSpPr>
        <p:spPr>
          <a:xfrm>
            <a:off x="804672" y="2386584"/>
            <a:ext cx="4873752" cy="122529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A28"/>
                </a:solidFill>
                <a:latin typeface="Calibri" pitchFamily="34" charset="0"/>
                <a:ea typeface="Calibri" pitchFamily="34" charset="-122"/>
                <a:cs typeface="Calibri" pitchFamily="34" charset="-120"/>
              </a:rPr>
              <a:t>80% entrenamiento y 20% prueba, estratificada.</a:t>
            </a:r>
            <a:endParaRPr lang="en-US" sz="1200" dirty="0"/>
          </a:p>
          <a:p>
            <a:pPr marL="342900" indent="-342900">
              <a:spcAft>
                <a:spcPts val="600"/>
              </a:spcAft>
              <a:buSzPct val="100000"/>
              <a:buChar char="•"/>
            </a:pPr>
            <a:r>
              <a:rPr lang="en-US" sz="1200" dirty="0">
                <a:solidFill>
                  <a:srgbClr val="1E2A28"/>
                </a:solidFill>
                <a:latin typeface="Calibri" pitchFamily="34" charset="0"/>
                <a:ea typeface="Calibri" pitchFamily="34" charset="-122"/>
                <a:cs typeface="Calibri" pitchFamily="34" charset="-120"/>
              </a:rPr>
              <a:t>Validación cruzada estratificada de 5 particiones.</a:t>
            </a:r>
            <a:endParaRPr lang="en-US" sz="1200" dirty="0"/>
          </a:p>
          <a:p>
            <a:pPr marL="342900" indent="-342900">
              <a:spcAft>
                <a:spcPts val="600"/>
              </a:spcAft>
              <a:buSzPct val="100000"/>
              <a:buChar char="•"/>
            </a:pPr>
            <a:r>
              <a:rPr lang="en-US" sz="1200" dirty="0">
                <a:solidFill>
                  <a:srgbClr val="1E2A28"/>
                </a:solidFill>
                <a:latin typeface="Calibri" pitchFamily="34" charset="0"/>
                <a:ea typeface="Calibri" pitchFamily="34" charset="-122"/>
                <a:cs typeface="Calibri" pitchFamily="34" charset="-120"/>
              </a:rPr>
              <a:t>La prueba se usa una sola vez, con el modelo final.</a:t>
            </a:r>
            <a:endParaRPr lang="en-US" sz="1200" dirty="0"/>
          </a:p>
        </p:txBody>
      </p:sp>
      <p:sp>
        <p:nvSpPr>
          <p:cNvPr id="11" name="Shape 9"/>
          <p:cNvSpPr/>
          <p:nvPr/>
        </p:nvSpPr>
        <p:spPr>
          <a:xfrm>
            <a:off x="6227064" y="1783080"/>
            <a:ext cx="5385816" cy="2048256"/>
          </a:xfrm>
          <a:prstGeom prst="roundRect">
            <a:avLst>
              <a:gd name="adj" fmla="val 2232"/>
            </a:avLst>
          </a:prstGeom>
          <a:solidFill>
            <a:srgbClr val="EEF4EF"/>
          </a:solidFill>
          <a:ln w="9525">
            <a:solidFill>
              <a:srgbClr val="D4E2D6"/>
            </a:solidFill>
            <a:prstDash val="solid"/>
          </a:ln>
        </p:spPr>
      </p:sp>
      <p:sp>
        <p:nvSpPr>
          <p:cNvPr id="12" name="Shape 10"/>
          <p:cNvSpPr/>
          <p:nvPr/>
        </p:nvSpPr>
        <p:spPr>
          <a:xfrm>
            <a:off x="6483096" y="2002536"/>
            <a:ext cx="329184" cy="329184"/>
          </a:xfrm>
          <a:prstGeom prst="ellipse">
            <a:avLst/>
          </a:prstGeom>
          <a:solidFill>
            <a:srgbClr val="3F8A26"/>
          </a:solidFill>
          <a:ln/>
        </p:spPr>
      </p:sp>
      <p:sp>
        <p:nvSpPr>
          <p:cNvPr id="13" name="Text 11"/>
          <p:cNvSpPr/>
          <p:nvPr/>
        </p:nvSpPr>
        <p:spPr>
          <a:xfrm>
            <a:off x="6483096" y="20025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6922008" y="1984248"/>
            <a:ext cx="4434840" cy="347472"/>
          </a:xfrm>
          <a:prstGeom prst="rect">
            <a:avLst/>
          </a:prstGeom>
          <a:noFill/>
          <a:ln/>
        </p:spPr>
        <p:txBody>
          <a:bodyPr wrap="square" lIns="0" tIns="0" rIns="0" bIns="0" rtlCol="0" anchor="ctr"/>
          <a:lstStyle/>
          <a:p>
            <a:pPr indent="0" marL="0">
              <a:buNone/>
            </a:pPr>
            <a:r>
              <a:rPr lang="en-US" sz="1300" b="1" dirty="0">
                <a:solidFill>
                  <a:srgbClr val="0E4D45"/>
                </a:solidFill>
                <a:latin typeface="Calibri" pitchFamily="34" charset="0"/>
                <a:ea typeface="Calibri" pitchFamily="34" charset="-122"/>
                <a:cs typeface="Calibri" pitchFamily="34" charset="-120"/>
              </a:rPr>
              <a:t>Desbalance</a:t>
            </a:r>
            <a:endParaRPr lang="en-US" sz="1300" dirty="0"/>
          </a:p>
        </p:txBody>
      </p:sp>
      <p:sp>
        <p:nvSpPr>
          <p:cNvPr id="15" name="Text 13"/>
          <p:cNvSpPr/>
          <p:nvPr/>
        </p:nvSpPr>
        <p:spPr>
          <a:xfrm>
            <a:off x="6483096" y="2386584"/>
            <a:ext cx="4873752" cy="122529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A28"/>
                </a:solidFill>
                <a:latin typeface="Calibri" pitchFamily="34" charset="0"/>
                <a:ea typeface="Calibri" pitchFamily="34" charset="-122"/>
                <a:cs typeface="Calibri" pitchFamily="34" charset="-120"/>
              </a:rPr>
              <a:t>Pesos de clase balanceados, probados también sin pesos.</a:t>
            </a:r>
            <a:endParaRPr lang="en-US" sz="1200" dirty="0"/>
          </a:p>
          <a:p>
            <a:pPr marL="342900" indent="-342900">
              <a:spcAft>
                <a:spcPts val="600"/>
              </a:spcAft>
              <a:buSzPct val="100000"/>
              <a:buChar char="•"/>
            </a:pPr>
            <a:r>
              <a:rPr lang="en-US" sz="1200" dirty="0">
                <a:solidFill>
                  <a:srgbClr val="1E2A28"/>
                </a:solidFill>
                <a:latin typeface="Calibri" pitchFamily="34" charset="0"/>
                <a:ea typeface="Calibri" pitchFamily="34" charset="-122"/>
                <a:cs typeface="Calibri" pitchFamily="34" charset="-120"/>
              </a:rPr>
              <a:t>Sin SMOTE: con variables binarias crearía valores como Smoker = 0.4.</a:t>
            </a:r>
            <a:endParaRPr lang="en-US" sz="1200" dirty="0"/>
          </a:p>
        </p:txBody>
      </p:sp>
      <p:sp>
        <p:nvSpPr>
          <p:cNvPr id="16" name="Shape 14"/>
          <p:cNvSpPr/>
          <p:nvPr/>
        </p:nvSpPr>
        <p:spPr>
          <a:xfrm>
            <a:off x="548640" y="4123944"/>
            <a:ext cx="5385816" cy="2048256"/>
          </a:xfrm>
          <a:prstGeom prst="roundRect">
            <a:avLst>
              <a:gd name="adj" fmla="val 2232"/>
            </a:avLst>
          </a:prstGeom>
          <a:solidFill>
            <a:srgbClr val="EEF4EF"/>
          </a:solidFill>
          <a:ln w="9525">
            <a:solidFill>
              <a:srgbClr val="D4E2D6"/>
            </a:solidFill>
            <a:prstDash val="solid"/>
          </a:ln>
        </p:spPr>
      </p:sp>
      <p:sp>
        <p:nvSpPr>
          <p:cNvPr id="17" name="Shape 15"/>
          <p:cNvSpPr/>
          <p:nvPr/>
        </p:nvSpPr>
        <p:spPr>
          <a:xfrm>
            <a:off x="804672" y="4343400"/>
            <a:ext cx="329184" cy="329184"/>
          </a:xfrm>
          <a:prstGeom prst="ellipse">
            <a:avLst/>
          </a:prstGeom>
          <a:solidFill>
            <a:srgbClr val="3F8A26"/>
          </a:solidFill>
          <a:ln/>
        </p:spPr>
      </p:sp>
      <p:sp>
        <p:nvSpPr>
          <p:cNvPr id="18" name="Text 16"/>
          <p:cNvSpPr/>
          <p:nvPr/>
        </p:nvSpPr>
        <p:spPr>
          <a:xfrm>
            <a:off x="804672" y="43434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1243584" y="4325112"/>
            <a:ext cx="4434840" cy="347472"/>
          </a:xfrm>
          <a:prstGeom prst="rect">
            <a:avLst/>
          </a:prstGeom>
          <a:noFill/>
          <a:ln/>
        </p:spPr>
        <p:txBody>
          <a:bodyPr wrap="square" lIns="0" tIns="0" rIns="0" bIns="0" rtlCol="0" anchor="ctr"/>
          <a:lstStyle/>
          <a:p>
            <a:pPr indent="0" marL="0">
              <a:buNone/>
            </a:pPr>
            <a:r>
              <a:rPr lang="en-US" sz="1300" b="1" dirty="0">
                <a:solidFill>
                  <a:srgbClr val="0E4D45"/>
                </a:solidFill>
                <a:latin typeface="Calibri" pitchFamily="34" charset="0"/>
                <a:ea typeface="Calibri" pitchFamily="34" charset="-122"/>
                <a:cs typeface="Calibri" pitchFamily="34" charset="-120"/>
              </a:rPr>
              <a:t>Limpieza y outliers</a:t>
            </a:r>
            <a:endParaRPr lang="en-US" sz="1300" dirty="0"/>
          </a:p>
        </p:txBody>
      </p:sp>
      <p:sp>
        <p:nvSpPr>
          <p:cNvPr id="20" name="Text 18"/>
          <p:cNvSpPr/>
          <p:nvPr/>
        </p:nvSpPr>
        <p:spPr>
          <a:xfrm>
            <a:off x="804672" y="4727448"/>
            <a:ext cx="4873752" cy="122529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A28"/>
                </a:solidFill>
                <a:latin typeface="Calibri" pitchFamily="34" charset="0"/>
                <a:ea typeface="Calibri" pitchFamily="34" charset="-122"/>
                <a:cs typeface="Calibri" pitchFamily="34" charset="-120"/>
              </a:rPr>
              <a:t>float64 a int; sin faltantes ni valores fuera de rango.</a:t>
            </a:r>
            <a:endParaRPr lang="en-US" sz="1200" dirty="0"/>
          </a:p>
          <a:p>
            <a:pPr marL="342900" indent="-342900">
              <a:spcAft>
                <a:spcPts val="600"/>
              </a:spcAft>
              <a:buSzPct val="100000"/>
              <a:buChar char="•"/>
            </a:pPr>
            <a:r>
              <a:rPr lang="en-US" sz="1200" dirty="0">
                <a:solidFill>
                  <a:srgbClr val="1E2A28"/>
                </a:solidFill>
                <a:latin typeface="Calibri" pitchFamily="34" charset="0"/>
                <a:ea typeface="Calibri" pitchFamily="34" charset="-122"/>
                <a:cs typeface="Calibri" pitchFamily="34" charset="-120"/>
              </a:rPr>
              <a:t>Se conservan duplicados e IMC extremos: pueden ser casos reales.</a:t>
            </a:r>
            <a:endParaRPr lang="en-US" sz="1200" dirty="0"/>
          </a:p>
        </p:txBody>
      </p:sp>
      <p:sp>
        <p:nvSpPr>
          <p:cNvPr id="21" name="Shape 19"/>
          <p:cNvSpPr/>
          <p:nvPr/>
        </p:nvSpPr>
        <p:spPr>
          <a:xfrm>
            <a:off x="6227064" y="4123944"/>
            <a:ext cx="5385816" cy="2048256"/>
          </a:xfrm>
          <a:prstGeom prst="roundRect">
            <a:avLst>
              <a:gd name="adj" fmla="val 2232"/>
            </a:avLst>
          </a:prstGeom>
          <a:solidFill>
            <a:srgbClr val="EEF4EF"/>
          </a:solidFill>
          <a:ln w="9525">
            <a:solidFill>
              <a:srgbClr val="D4E2D6"/>
            </a:solidFill>
            <a:prstDash val="solid"/>
          </a:ln>
        </p:spPr>
      </p:sp>
      <p:sp>
        <p:nvSpPr>
          <p:cNvPr id="22" name="Shape 20"/>
          <p:cNvSpPr/>
          <p:nvPr/>
        </p:nvSpPr>
        <p:spPr>
          <a:xfrm>
            <a:off x="6483096" y="4343400"/>
            <a:ext cx="329184" cy="329184"/>
          </a:xfrm>
          <a:prstGeom prst="ellipse">
            <a:avLst/>
          </a:prstGeom>
          <a:solidFill>
            <a:srgbClr val="3F8A26"/>
          </a:solidFill>
          <a:ln/>
        </p:spPr>
      </p:sp>
      <p:sp>
        <p:nvSpPr>
          <p:cNvPr id="23" name="Text 21"/>
          <p:cNvSpPr/>
          <p:nvPr/>
        </p:nvSpPr>
        <p:spPr>
          <a:xfrm>
            <a:off x="6483096" y="43434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6922008" y="4325112"/>
            <a:ext cx="4434840" cy="347472"/>
          </a:xfrm>
          <a:prstGeom prst="rect">
            <a:avLst/>
          </a:prstGeom>
          <a:noFill/>
          <a:ln/>
        </p:spPr>
        <p:txBody>
          <a:bodyPr wrap="square" lIns="0" tIns="0" rIns="0" bIns="0" rtlCol="0" anchor="ctr"/>
          <a:lstStyle/>
          <a:p>
            <a:pPr indent="0" marL="0">
              <a:buNone/>
            </a:pPr>
            <a:r>
              <a:rPr lang="en-US" sz="1300" b="1" dirty="0">
                <a:solidFill>
                  <a:srgbClr val="0E4D45"/>
                </a:solidFill>
                <a:latin typeface="Calibri" pitchFamily="34" charset="0"/>
                <a:ea typeface="Calibri" pitchFamily="34" charset="-122"/>
                <a:cs typeface="Calibri" pitchFamily="34" charset="-120"/>
              </a:rPr>
              <a:t>Codificación y escala</a:t>
            </a:r>
            <a:endParaRPr lang="en-US" sz="1300" dirty="0"/>
          </a:p>
        </p:txBody>
      </p:sp>
      <p:sp>
        <p:nvSpPr>
          <p:cNvPr id="25" name="Text 23"/>
          <p:cNvSpPr/>
          <p:nvPr/>
        </p:nvSpPr>
        <p:spPr>
          <a:xfrm>
            <a:off x="6483096" y="4727448"/>
            <a:ext cx="4873752" cy="122529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A28"/>
                </a:solidFill>
                <a:latin typeface="Calibri" pitchFamily="34" charset="0"/>
                <a:ea typeface="Calibri" pitchFamily="34" charset="-122"/>
                <a:cs typeface="Calibri" pitchFamily="34" charset="-120"/>
              </a:rPr>
              <a:t>Binarias ya son 0/1; ordinales como números, sin one-hot.</a:t>
            </a:r>
            <a:endParaRPr lang="en-US" sz="1200" dirty="0"/>
          </a:p>
          <a:p>
            <a:pPr marL="342900" indent="-342900">
              <a:spcAft>
                <a:spcPts val="600"/>
              </a:spcAft>
              <a:buSzPct val="100000"/>
              <a:buChar char="•"/>
            </a:pPr>
            <a:r>
              <a:rPr lang="en-US" sz="1200" dirty="0">
                <a:solidFill>
                  <a:srgbClr val="1E2A28"/>
                </a:solidFill>
                <a:latin typeface="Calibri" pitchFamily="34" charset="0"/>
                <a:ea typeface="Calibri" pitchFamily="34" charset="-122"/>
                <a:cs typeface="Calibri" pitchFamily="34" charset="-120"/>
              </a:rPr>
              <a:t>StandardScaler en un pipeline solo para la logística.</a:t>
            </a:r>
            <a:endParaRPr lang="en-US" sz="1200" dirty="0"/>
          </a:p>
        </p:txBody>
      </p:sp>
      <p:sp>
        <p:nvSpPr>
          <p:cNvPr id="27" name="Text 24"/>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1000" dirty="0">
                <a:solidFill>
                  <a:srgbClr val="7F8F8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420624"/>
            <a:ext cx="402336" cy="402336"/>
          </a:xfrm>
          <a:prstGeom prst="ellipse">
            <a:avLst/>
          </a:prstGeom>
          <a:solidFill>
            <a:srgbClr val="0E4D45"/>
          </a:solidFill>
          <a:ln/>
        </p:spPr>
      </p:sp>
      <p:sp>
        <p:nvSpPr>
          <p:cNvPr id="3" name="Text 1"/>
          <p:cNvSpPr/>
          <p:nvPr/>
        </p:nvSpPr>
        <p:spPr>
          <a:xfrm>
            <a:off x="548640" y="42062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4" name="Text 2"/>
          <p:cNvSpPr/>
          <p:nvPr/>
        </p:nvSpPr>
        <p:spPr>
          <a:xfrm>
            <a:off x="1097280" y="457200"/>
            <a:ext cx="9601200" cy="329184"/>
          </a:xfrm>
          <a:prstGeom prst="rect">
            <a:avLst/>
          </a:prstGeom>
          <a:noFill/>
          <a:ln/>
        </p:spPr>
        <p:txBody>
          <a:bodyPr wrap="square" lIns="0" tIns="0" rIns="0" bIns="0" rtlCol="0" anchor="ctr"/>
          <a:lstStyle/>
          <a:p>
            <a:pPr indent="0" marL="0">
              <a:buNone/>
            </a:pPr>
            <a:r>
              <a:rPr lang="en-US" sz="1100" b="1" spc="140" kern="0" dirty="0">
                <a:solidFill>
                  <a:srgbClr val="3F8A26"/>
                </a:solidFill>
                <a:latin typeface="Calibri" pitchFamily="34" charset="0"/>
                <a:ea typeface="Calibri" pitchFamily="34" charset="-122"/>
                <a:cs typeface="Calibri" pitchFamily="34" charset="-120"/>
              </a:rPr>
              <a:t>MODELOS | BASELINES Y ÁRBOL</a:t>
            </a:r>
            <a:endParaRPr lang="en-US" sz="1100" dirty="0"/>
          </a:p>
        </p:txBody>
      </p:sp>
      <p:sp>
        <p:nvSpPr>
          <p:cNvPr id="5" name="Text 3"/>
          <p:cNvSpPr/>
          <p:nvPr/>
        </p:nvSpPr>
        <p:spPr>
          <a:xfrm>
            <a:off x="548640" y="960120"/>
            <a:ext cx="11064240" cy="658368"/>
          </a:xfrm>
          <a:prstGeom prst="rect">
            <a:avLst/>
          </a:prstGeom>
          <a:noFill/>
          <a:ln/>
        </p:spPr>
        <p:txBody>
          <a:bodyPr wrap="square" lIns="0" tIns="0" rIns="0" bIns="0" rtlCol="0" anchor="t"/>
          <a:lstStyle/>
          <a:p>
            <a:pPr indent="0" marL="0">
              <a:buNone/>
            </a:pPr>
            <a:r>
              <a:rPr lang="en-US" sz="2600" b="1" dirty="0">
                <a:solidFill>
                  <a:srgbClr val="0E4D45"/>
                </a:solidFill>
                <a:latin typeface="Cambria" pitchFamily="34" charset="0"/>
                <a:ea typeface="Cambria" pitchFamily="34" charset="-122"/>
                <a:cs typeface="Cambria" pitchFamily="34" charset="-120"/>
              </a:rPr>
              <a:t>Baseline, regresión logística y árbol de decisión</a:t>
            </a:r>
            <a:endParaRPr lang="en-US" sz="2600" dirty="0"/>
          </a:p>
        </p:txBody>
      </p:sp>
      <p:sp>
        <p:nvSpPr>
          <p:cNvPr id="6" name="Shape 4"/>
          <p:cNvSpPr/>
          <p:nvPr/>
        </p:nvSpPr>
        <p:spPr>
          <a:xfrm>
            <a:off x="548640" y="1783080"/>
            <a:ext cx="3493008" cy="4389120"/>
          </a:xfrm>
          <a:prstGeom prst="roundRect">
            <a:avLst>
              <a:gd name="adj" fmla="val 1309"/>
            </a:avLst>
          </a:prstGeom>
          <a:solidFill>
            <a:srgbClr val="EEF4EF"/>
          </a:solidFill>
          <a:ln w="9525">
            <a:solidFill>
              <a:srgbClr val="D4E2D6"/>
            </a:solidFill>
            <a:prstDash val="solid"/>
          </a:ln>
        </p:spPr>
      </p:sp>
      <p:sp>
        <p:nvSpPr>
          <p:cNvPr id="7" name="Text 5"/>
          <p:cNvSpPr/>
          <p:nvPr/>
        </p:nvSpPr>
        <p:spPr>
          <a:xfrm>
            <a:off x="804672" y="1984248"/>
            <a:ext cx="2980944" cy="347472"/>
          </a:xfrm>
          <a:prstGeom prst="rect">
            <a:avLst/>
          </a:prstGeom>
          <a:noFill/>
          <a:ln/>
        </p:spPr>
        <p:txBody>
          <a:bodyPr wrap="square" lIns="0" tIns="0" rIns="0" bIns="0" rtlCol="0" anchor="ctr"/>
          <a:lstStyle/>
          <a:p>
            <a:pPr indent="0" marL="0">
              <a:buNone/>
            </a:pPr>
            <a:r>
              <a:rPr lang="en-US" sz="1300" b="1" dirty="0">
                <a:solidFill>
                  <a:srgbClr val="0E4D45"/>
                </a:solidFill>
                <a:latin typeface="Calibri" pitchFamily="34" charset="0"/>
                <a:ea typeface="Calibri" pitchFamily="34" charset="-122"/>
                <a:cs typeface="Calibri" pitchFamily="34" charset="-120"/>
              </a:rPr>
              <a:t>Baseline trivial</a:t>
            </a:r>
            <a:endParaRPr lang="en-US" sz="1300" dirty="0"/>
          </a:p>
        </p:txBody>
      </p:sp>
      <p:sp>
        <p:nvSpPr>
          <p:cNvPr id="8" name="Text 6"/>
          <p:cNvSpPr/>
          <p:nvPr/>
        </p:nvSpPr>
        <p:spPr>
          <a:xfrm>
            <a:off x="804672" y="2386584"/>
            <a:ext cx="2980944" cy="35661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A28"/>
                </a:solidFill>
                <a:latin typeface="Calibri" pitchFamily="34" charset="0"/>
                <a:ea typeface="Calibri" pitchFamily="34" charset="-122"/>
                <a:cs typeface="Calibri" pitchFamily="34" charset="-120"/>
              </a:rPr>
              <a:t>Siempre predice sin diabetes.</a:t>
            </a:r>
            <a:endParaRPr lang="en-US" sz="1200" dirty="0"/>
          </a:p>
          <a:p>
            <a:pPr marL="342900" indent="-342900">
              <a:spcAft>
                <a:spcPts val="600"/>
              </a:spcAft>
              <a:buSzPct val="100000"/>
              <a:buChar char="•"/>
            </a:pPr>
            <a:r>
              <a:rPr lang="en-US" sz="1200" dirty="0">
                <a:solidFill>
                  <a:srgbClr val="1E2A28"/>
                </a:solidFill>
                <a:latin typeface="Calibri" pitchFamily="34" charset="0"/>
                <a:ea typeface="Calibri" pitchFamily="34" charset="-122"/>
                <a:cs typeface="Calibri" pitchFamily="34" charset="-120"/>
              </a:rPr>
              <a:t>84.2% de accuracy, pero F1 macro de 0.305.</a:t>
            </a:r>
            <a:endParaRPr lang="en-US" sz="1200" dirty="0"/>
          </a:p>
          <a:p>
            <a:pPr marL="342900" indent="-342900">
              <a:spcAft>
                <a:spcPts val="600"/>
              </a:spcAft>
              <a:buSzPct val="100000"/>
              <a:buChar char="•"/>
            </a:pPr>
            <a:r>
              <a:rPr lang="en-US" sz="1200" dirty="0">
                <a:solidFill>
                  <a:srgbClr val="1E2A28"/>
                </a:solidFill>
                <a:latin typeface="Calibri" pitchFamily="34" charset="0"/>
                <a:ea typeface="Calibri" pitchFamily="34" charset="-122"/>
                <a:cs typeface="Calibri" pitchFamily="34" charset="-120"/>
              </a:rPr>
              <a:t>F1 de 0.91 en sin diabetes y 0 en las otras dos clases.</a:t>
            </a:r>
            <a:endParaRPr lang="en-US" sz="1200" dirty="0"/>
          </a:p>
        </p:txBody>
      </p:sp>
      <p:sp>
        <p:nvSpPr>
          <p:cNvPr id="9" name="Shape 7"/>
          <p:cNvSpPr/>
          <p:nvPr/>
        </p:nvSpPr>
        <p:spPr>
          <a:xfrm>
            <a:off x="4334256" y="1783080"/>
            <a:ext cx="3493008" cy="4389120"/>
          </a:xfrm>
          <a:prstGeom prst="roundRect">
            <a:avLst>
              <a:gd name="adj" fmla="val 1309"/>
            </a:avLst>
          </a:prstGeom>
          <a:solidFill>
            <a:srgbClr val="EEF4EF"/>
          </a:solidFill>
          <a:ln w="9525">
            <a:solidFill>
              <a:srgbClr val="D4E2D6"/>
            </a:solidFill>
            <a:prstDash val="solid"/>
          </a:ln>
        </p:spPr>
      </p:sp>
      <p:sp>
        <p:nvSpPr>
          <p:cNvPr id="10" name="Text 8"/>
          <p:cNvSpPr/>
          <p:nvPr/>
        </p:nvSpPr>
        <p:spPr>
          <a:xfrm>
            <a:off x="4590288" y="1984248"/>
            <a:ext cx="2980944" cy="347472"/>
          </a:xfrm>
          <a:prstGeom prst="rect">
            <a:avLst/>
          </a:prstGeom>
          <a:noFill/>
          <a:ln/>
        </p:spPr>
        <p:txBody>
          <a:bodyPr wrap="square" lIns="0" tIns="0" rIns="0" bIns="0" rtlCol="0" anchor="ctr"/>
          <a:lstStyle/>
          <a:p>
            <a:pPr indent="0" marL="0">
              <a:buNone/>
            </a:pPr>
            <a:r>
              <a:rPr lang="en-US" sz="1300" b="1" dirty="0">
                <a:solidFill>
                  <a:srgbClr val="0E4D45"/>
                </a:solidFill>
                <a:latin typeface="Calibri" pitchFamily="34" charset="0"/>
                <a:ea typeface="Calibri" pitchFamily="34" charset="-122"/>
                <a:cs typeface="Calibri" pitchFamily="34" charset="-120"/>
              </a:rPr>
              <a:t>Regresión logística</a:t>
            </a:r>
            <a:endParaRPr lang="en-US" sz="1300" dirty="0"/>
          </a:p>
        </p:txBody>
      </p:sp>
      <p:sp>
        <p:nvSpPr>
          <p:cNvPr id="11" name="Text 9"/>
          <p:cNvSpPr/>
          <p:nvPr/>
        </p:nvSpPr>
        <p:spPr>
          <a:xfrm>
            <a:off x="4590288" y="2386584"/>
            <a:ext cx="2980944" cy="35661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A28"/>
                </a:solidFill>
                <a:latin typeface="Calibri" pitchFamily="34" charset="0"/>
                <a:ea typeface="Calibri" pitchFamily="34" charset="-122"/>
                <a:cs typeface="Calibri" pitchFamily="34" charset="-120"/>
              </a:rPr>
              <a:t>C = 0.01 con pesos balanceados: F1 macro 0.427.</a:t>
            </a:r>
            <a:endParaRPr lang="en-US" sz="1200" dirty="0"/>
          </a:p>
          <a:p>
            <a:pPr marL="342900" indent="-342900">
              <a:spcAft>
                <a:spcPts val="600"/>
              </a:spcAft>
              <a:buSzPct val="100000"/>
              <a:buChar char="•"/>
            </a:pPr>
            <a:r>
              <a:rPr lang="en-US" sz="1200" dirty="0">
                <a:solidFill>
                  <a:srgbClr val="1E2A28"/>
                </a:solidFill>
                <a:latin typeface="Calibri" pitchFamily="34" charset="0"/>
                <a:ea typeface="Calibri" pitchFamily="34" charset="-122"/>
                <a:cs typeface="Calibri" pitchFamily="34" charset="-120"/>
              </a:rPr>
              <a:t>Los pesos suben el F1 de 0.394 a 0.426.</a:t>
            </a:r>
            <a:endParaRPr lang="en-US" sz="1200" dirty="0"/>
          </a:p>
          <a:p>
            <a:pPr marL="342900" indent="-342900">
              <a:spcAft>
                <a:spcPts val="600"/>
              </a:spcAft>
              <a:buSzPct val="100000"/>
              <a:buChar char="•"/>
            </a:pPr>
            <a:r>
              <a:rPr lang="en-US" sz="1200" dirty="0">
                <a:solidFill>
                  <a:srgbClr val="1E2A28"/>
                </a:solidFill>
                <a:latin typeface="Calibri" pitchFamily="34" charset="0"/>
                <a:ea typeface="Calibri" pitchFamily="34" charset="-122"/>
                <a:cs typeface="Calibri" pitchFamily="34" charset="-120"/>
              </a:rPr>
              <a:t>Sin sobreajuste: 0.427 en entrenamiento y validación.</a:t>
            </a:r>
            <a:endParaRPr lang="en-US" sz="1200" dirty="0"/>
          </a:p>
          <a:p>
            <a:pPr marL="342900" indent="-342900">
              <a:spcAft>
                <a:spcPts val="600"/>
              </a:spcAft>
              <a:buSzPct val="100000"/>
              <a:buChar char="•"/>
            </a:pPr>
            <a:r>
              <a:rPr lang="en-US" sz="1200" dirty="0">
                <a:solidFill>
                  <a:srgbClr val="1E2A28"/>
                </a:solidFill>
                <a:latin typeface="Calibri" pitchFamily="34" charset="0"/>
                <a:ea typeface="Calibri" pitchFamily="34" charset="-122"/>
                <a:cs typeface="Calibri" pitchFamily="34" charset="-120"/>
              </a:rPr>
              <a:t>Detecta al 30% de la prediabetes.</a:t>
            </a:r>
            <a:endParaRPr lang="en-US" sz="1200" dirty="0"/>
          </a:p>
        </p:txBody>
      </p:sp>
      <p:sp>
        <p:nvSpPr>
          <p:cNvPr id="12" name="Shape 10"/>
          <p:cNvSpPr/>
          <p:nvPr/>
        </p:nvSpPr>
        <p:spPr>
          <a:xfrm>
            <a:off x="8119872" y="1783080"/>
            <a:ext cx="3493008" cy="4389120"/>
          </a:xfrm>
          <a:prstGeom prst="roundRect">
            <a:avLst>
              <a:gd name="adj" fmla="val 1309"/>
            </a:avLst>
          </a:prstGeom>
          <a:solidFill>
            <a:srgbClr val="EEF4EF"/>
          </a:solidFill>
          <a:ln w="9525">
            <a:solidFill>
              <a:srgbClr val="D4E2D6"/>
            </a:solidFill>
            <a:prstDash val="solid"/>
          </a:ln>
        </p:spPr>
      </p:sp>
      <p:sp>
        <p:nvSpPr>
          <p:cNvPr id="13" name="Text 11"/>
          <p:cNvSpPr/>
          <p:nvPr/>
        </p:nvSpPr>
        <p:spPr>
          <a:xfrm>
            <a:off x="8375904" y="1984248"/>
            <a:ext cx="2980944" cy="347472"/>
          </a:xfrm>
          <a:prstGeom prst="rect">
            <a:avLst/>
          </a:prstGeom>
          <a:noFill/>
          <a:ln/>
        </p:spPr>
        <p:txBody>
          <a:bodyPr wrap="square" lIns="0" tIns="0" rIns="0" bIns="0" rtlCol="0" anchor="ctr"/>
          <a:lstStyle/>
          <a:p>
            <a:pPr indent="0" marL="0">
              <a:buNone/>
            </a:pPr>
            <a:r>
              <a:rPr lang="en-US" sz="1300" b="1" dirty="0">
                <a:solidFill>
                  <a:srgbClr val="3F8A26"/>
                </a:solidFill>
                <a:latin typeface="Calibri" pitchFamily="34" charset="0"/>
                <a:ea typeface="Calibri" pitchFamily="34" charset="-122"/>
                <a:cs typeface="Calibri" pitchFamily="34" charset="-120"/>
              </a:rPr>
              <a:t>Árbol de decisión</a:t>
            </a:r>
            <a:endParaRPr lang="en-US" sz="1300" dirty="0"/>
          </a:p>
        </p:txBody>
      </p:sp>
      <p:sp>
        <p:nvSpPr>
          <p:cNvPr id="14" name="Text 12"/>
          <p:cNvSpPr/>
          <p:nvPr/>
        </p:nvSpPr>
        <p:spPr>
          <a:xfrm>
            <a:off x="8375904" y="2386584"/>
            <a:ext cx="2980944" cy="35661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A28"/>
                </a:solidFill>
                <a:latin typeface="Calibri" pitchFamily="34" charset="0"/>
                <a:ea typeface="Calibri" pitchFamily="34" charset="-122"/>
                <a:cs typeface="Calibri" pitchFamily="34" charset="-120"/>
              </a:rPr>
              <a:t>400 combinaciones; F1 macro 0.406.</a:t>
            </a:r>
            <a:endParaRPr lang="en-US" sz="1200" dirty="0"/>
          </a:p>
          <a:p>
            <a:pPr marL="342900" indent="-342900">
              <a:spcAft>
                <a:spcPts val="600"/>
              </a:spcAft>
              <a:buSzPct val="100000"/>
              <a:buChar char="•"/>
            </a:pPr>
            <a:r>
              <a:rPr lang="en-US" sz="1200" dirty="0">
                <a:solidFill>
                  <a:srgbClr val="1E2A28"/>
                </a:solidFill>
                <a:latin typeface="Calibri" pitchFamily="34" charset="0"/>
                <a:ea typeface="Calibri" pitchFamily="34" charset="-122"/>
                <a:cs typeface="Calibri" pitchFamily="34" charset="-120"/>
              </a:rPr>
              <a:t>Se sobreajusta: 0.522 en entrenamiento.</a:t>
            </a:r>
            <a:endParaRPr lang="en-US" sz="1200" dirty="0"/>
          </a:p>
          <a:p>
            <a:pPr marL="342900" indent="-342900">
              <a:spcAft>
                <a:spcPts val="600"/>
              </a:spcAft>
              <a:buSzPct val="100000"/>
              <a:buChar char="•"/>
            </a:pPr>
            <a:r>
              <a:rPr lang="en-US" sz="1200" dirty="0">
                <a:solidFill>
                  <a:srgbClr val="1E2A28"/>
                </a:solidFill>
                <a:latin typeface="Calibri" pitchFamily="34" charset="0"/>
                <a:ea typeface="Calibri" pitchFamily="34" charset="-122"/>
                <a:cs typeface="Calibri" pitchFamily="34" charset="-120"/>
              </a:rPr>
              <a:t>Detecta al 25.5% de la diabetes y al 0.4% de la prediabetes.</a:t>
            </a:r>
            <a:endParaRPr lang="en-US" sz="1200" dirty="0"/>
          </a:p>
          <a:p>
            <a:pPr marL="342900" indent="-342900">
              <a:spcAft>
                <a:spcPts val="600"/>
              </a:spcAft>
              <a:buSzPct val="100000"/>
              <a:buChar char="•"/>
            </a:pPr>
            <a:r>
              <a:rPr lang="en-US" sz="1200" dirty="0">
                <a:solidFill>
                  <a:srgbClr val="1E2A28"/>
                </a:solidFill>
                <a:latin typeface="Calibri" pitchFamily="34" charset="0"/>
                <a:ea typeface="Calibri" pitchFamily="34" charset="-122"/>
                <a:cs typeface="Calibri" pitchFamily="34" charset="-120"/>
              </a:rPr>
              <a:t>El árbol balanceado de profundidad 5 da 0.402 y detecta al 29% de la prediabetes.</a:t>
            </a:r>
            <a:endParaRPr lang="en-US" sz="1200" dirty="0"/>
          </a:p>
        </p:txBody>
      </p:sp>
      <p:sp>
        <p:nvSpPr>
          <p:cNvPr id="16" name="Text 13"/>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1000" dirty="0">
                <a:solidFill>
                  <a:srgbClr val="7F8F8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420624"/>
            <a:ext cx="402336" cy="402336"/>
          </a:xfrm>
          <a:prstGeom prst="ellipse">
            <a:avLst/>
          </a:prstGeom>
          <a:solidFill>
            <a:srgbClr val="0E4D45"/>
          </a:solidFill>
          <a:ln/>
        </p:spPr>
      </p:sp>
      <p:sp>
        <p:nvSpPr>
          <p:cNvPr id="3" name="Text 1"/>
          <p:cNvSpPr/>
          <p:nvPr/>
        </p:nvSpPr>
        <p:spPr>
          <a:xfrm>
            <a:off x="548640" y="42062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4" name="Text 2"/>
          <p:cNvSpPr/>
          <p:nvPr/>
        </p:nvSpPr>
        <p:spPr>
          <a:xfrm>
            <a:off x="1097280" y="457200"/>
            <a:ext cx="9601200" cy="329184"/>
          </a:xfrm>
          <a:prstGeom prst="rect">
            <a:avLst/>
          </a:prstGeom>
          <a:noFill/>
          <a:ln/>
        </p:spPr>
        <p:txBody>
          <a:bodyPr wrap="square" lIns="0" tIns="0" rIns="0" bIns="0" rtlCol="0" anchor="ctr"/>
          <a:lstStyle/>
          <a:p>
            <a:pPr indent="0" marL="0">
              <a:buNone/>
            </a:pPr>
            <a:r>
              <a:rPr lang="en-US" sz="1100" b="1" spc="140" kern="0" dirty="0">
                <a:solidFill>
                  <a:srgbClr val="3F8A26"/>
                </a:solidFill>
                <a:latin typeface="Calibri" pitchFamily="34" charset="0"/>
                <a:ea typeface="Calibri" pitchFamily="34" charset="-122"/>
                <a:cs typeface="Calibri" pitchFamily="34" charset="-120"/>
              </a:rPr>
              <a:t>MODELOS | VALIDACIÓN CRUZADA</a:t>
            </a:r>
            <a:endParaRPr lang="en-US" sz="1100" dirty="0"/>
          </a:p>
        </p:txBody>
      </p:sp>
      <p:sp>
        <p:nvSpPr>
          <p:cNvPr id="5" name="Text 3"/>
          <p:cNvSpPr/>
          <p:nvPr/>
        </p:nvSpPr>
        <p:spPr>
          <a:xfrm>
            <a:off x="548640" y="960120"/>
            <a:ext cx="11064240" cy="658368"/>
          </a:xfrm>
          <a:prstGeom prst="rect">
            <a:avLst/>
          </a:prstGeom>
          <a:noFill/>
          <a:ln/>
        </p:spPr>
        <p:txBody>
          <a:bodyPr wrap="square" lIns="0" tIns="0" rIns="0" bIns="0" rtlCol="0" anchor="t"/>
          <a:lstStyle/>
          <a:p>
            <a:pPr indent="0" marL="0">
              <a:buNone/>
            </a:pPr>
            <a:r>
              <a:rPr lang="en-US" sz="2600" b="1" dirty="0">
                <a:solidFill>
                  <a:srgbClr val="0E4D45"/>
                </a:solidFill>
                <a:latin typeface="Cambria" pitchFamily="34" charset="0"/>
                <a:ea typeface="Cambria" pitchFamily="34" charset="-122"/>
                <a:cs typeface="Cambria" pitchFamily="34" charset="-120"/>
              </a:rPr>
              <a:t>Cinco modelos con la misma validación cruzada</a:t>
            </a:r>
            <a:endParaRPr lang="en-US" sz="2600" dirty="0"/>
          </a:p>
        </p:txBody>
      </p:sp>
      <p:sp>
        <p:nvSpPr>
          <p:cNvPr id="6" name="Shape 4"/>
          <p:cNvSpPr/>
          <p:nvPr/>
        </p:nvSpPr>
        <p:spPr>
          <a:xfrm>
            <a:off x="548640" y="1783080"/>
            <a:ext cx="11064240" cy="2514600"/>
          </a:xfrm>
          <a:prstGeom prst="roundRect">
            <a:avLst>
              <a:gd name="adj" fmla="val 1818"/>
            </a:avLst>
          </a:prstGeom>
          <a:solidFill>
            <a:srgbClr val="EEF4EF"/>
          </a:solidFill>
          <a:ln w="9525">
            <a:solidFill>
              <a:srgbClr val="D4E2D6"/>
            </a:solidFill>
            <a:prstDash val="solid"/>
          </a:ln>
        </p:spPr>
      </p:sp>
      <p:sp>
        <p:nvSpPr>
          <p:cNvPr id="7" name="Text 5"/>
          <p:cNvSpPr/>
          <p:nvPr/>
        </p:nvSpPr>
        <p:spPr>
          <a:xfrm>
            <a:off x="804672" y="1984248"/>
            <a:ext cx="10552176" cy="347472"/>
          </a:xfrm>
          <a:prstGeom prst="rect">
            <a:avLst/>
          </a:prstGeom>
          <a:noFill/>
          <a:ln/>
        </p:spPr>
        <p:txBody>
          <a:bodyPr wrap="square" lIns="0" tIns="0" rIns="0" bIns="0" rtlCol="0" anchor="ctr"/>
          <a:lstStyle/>
          <a:p>
            <a:pPr indent="0" marL="0">
              <a:buNone/>
            </a:pPr>
            <a:r>
              <a:rPr lang="en-US" sz="1300" b="1" dirty="0">
                <a:solidFill>
                  <a:srgbClr val="0E4D45"/>
                </a:solidFill>
                <a:latin typeface="Calibri" pitchFamily="34" charset="0"/>
                <a:ea typeface="Calibri" pitchFamily="34" charset="-122"/>
                <a:cs typeface="Calibri" pitchFamily="34" charset="-120"/>
              </a:rPr>
              <a:t>Promedio de 5 particiones del conjunto de entrenamiento</a:t>
            </a:r>
            <a:endParaRPr lang="en-US" sz="1300" dirty="0"/>
          </a:p>
        </p:txBody>
      </p:sp>
      <p:sp>
        <p:nvSpPr>
          <p:cNvPr id="8" name="Text 6"/>
          <p:cNvSpPr/>
          <p:nvPr/>
        </p:nvSpPr>
        <p:spPr>
          <a:xfrm>
            <a:off x="804672" y="2377440"/>
            <a:ext cx="10552176" cy="1828800"/>
          </a:xfrm>
          <a:prstGeom prst="rect">
            <a:avLst/>
          </a:prstGeom>
          <a:noFill/>
          <a:ln/>
        </p:spPr>
        <p:txBody>
          <a:bodyPr wrap="square" lIns="0" tIns="0" rIns="0" bIns="0" rtlCol="0" anchor="t"/>
          <a:lstStyle/>
          <a:p>
            <a:pPr indent="0" marL="0">
              <a:lnSpc>
                <a:spcPts val="1620"/>
              </a:lnSpc>
              <a:buNone/>
            </a:pPr>
            <a:r>
              <a:rPr lang="en-US" sz="1200" dirty="0">
                <a:solidFill>
                  <a:srgbClr val="1E2A28"/>
                </a:solidFill>
                <a:latin typeface="Courier New" pitchFamily="34" charset="0"/>
                <a:ea typeface="Courier New" pitchFamily="34" charset="-122"/>
                <a:cs typeface="Courier New" pitchFamily="34" charset="-120"/>
              </a:rPr>
              <a:t>Modelo                F1 val   F1 train   Brecha   Recall pre   Recall dia</a:t>
            </a:r>
            <a:endParaRPr lang="en-US" sz="1200" dirty="0"/>
          </a:p>
          <a:p>
            <a:pPr indent="0" marL="0">
              <a:lnSpc>
                <a:spcPts val="1620"/>
              </a:lnSpc>
              <a:buNone/>
            </a:pPr>
            <a:r>
              <a:rPr lang="en-US" sz="1200" dirty="0">
                <a:solidFill>
                  <a:srgbClr val="1E2A28"/>
                </a:solidFill>
                <a:latin typeface="Courier New" pitchFamily="34" charset="0"/>
                <a:ea typeface="Courier New" pitchFamily="34" charset="-122"/>
                <a:cs typeface="Courier New" pitchFamily="34" charset="-120"/>
              </a:rPr>
              <a:t>------------------------------------------------------------------------------</a:t>
            </a:r>
            <a:endParaRPr lang="en-US" sz="1200" dirty="0"/>
          </a:p>
          <a:p>
            <a:pPr indent="0" marL="0">
              <a:lnSpc>
                <a:spcPts val="1620"/>
              </a:lnSpc>
              <a:buNone/>
            </a:pPr>
            <a:r>
              <a:rPr lang="en-US" sz="1200" dirty="0">
                <a:solidFill>
                  <a:srgbClr val="1E2A28"/>
                </a:solidFill>
                <a:latin typeface="Courier New" pitchFamily="34" charset="0"/>
                <a:ea typeface="Courier New" pitchFamily="34" charset="-122"/>
                <a:cs typeface="Courier New" pitchFamily="34" charset="-120"/>
              </a:rPr>
              <a:t>Baseline trivial       0.305      0.305    0.000        0.000        0.000</a:t>
            </a:r>
            <a:endParaRPr lang="en-US" sz="1200" dirty="0"/>
          </a:p>
          <a:p>
            <a:pPr indent="0" marL="0">
              <a:lnSpc>
                <a:spcPts val="1620"/>
              </a:lnSpc>
              <a:buNone/>
            </a:pPr>
            <a:r>
              <a:rPr lang="en-US" sz="1200" dirty="0">
                <a:solidFill>
                  <a:srgbClr val="1E2A28"/>
                </a:solidFill>
                <a:latin typeface="Courier New" pitchFamily="34" charset="0"/>
                <a:ea typeface="Courier New" pitchFamily="34" charset="-122"/>
                <a:cs typeface="Courier New" pitchFamily="34" charset="-120"/>
              </a:rPr>
              <a:t>Regresión logística    0.427      0.427    0.001        0.299        0.590</a:t>
            </a:r>
            <a:endParaRPr lang="en-US" sz="1200" dirty="0"/>
          </a:p>
          <a:p>
            <a:pPr indent="0" marL="0">
              <a:lnSpc>
                <a:spcPts val="1620"/>
              </a:lnSpc>
              <a:buNone/>
            </a:pPr>
            <a:r>
              <a:rPr lang="en-US" sz="1200" dirty="0">
                <a:solidFill>
                  <a:srgbClr val="1E2A28"/>
                </a:solidFill>
                <a:latin typeface="Courier New" pitchFamily="34" charset="0"/>
                <a:ea typeface="Courier New" pitchFamily="34" charset="-122"/>
                <a:cs typeface="Courier New" pitchFamily="34" charset="-120"/>
              </a:rPr>
              <a:t>Árbol de decisión      0.406      0.522    0.115        0.004        0.255</a:t>
            </a:r>
            <a:endParaRPr lang="en-US" sz="1200" dirty="0"/>
          </a:p>
          <a:p>
            <a:pPr indent="0" marL="0">
              <a:lnSpc>
                <a:spcPts val="1620"/>
              </a:lnSpc>
              <a:buNone/>
            </a:pPr>
            <a:r>
              <a:rPr lang="en-US" sz="1200" dirty="0">
                <a:solidFill>
                  <a:srgbClr val="1E2A28"/>
                </a:solidFill>
                <a:latin typeface="Courier New" pitchFamily="34" charset="0"/>
                <a:ea typeface="Courier New" pitchFamily="34" charset="-122"/>
                <a:cs typeface="Courier New" pitchFamily="34" charset="-120"/>
              </a:rPr>
              <a:t>Random forest          0.439      0.646    0.207        0.008        0.706</a:t>
            </a:r>
            <a:endParaRPr lang="en-US" sz="1200" dirty="0"/>
          </a:p>
          <a:p>
            <a:pPr indent="0" marL="0">
              <a:lnSpc>
                <a:spcPts val="1620"/>
              </a:lnSpc>
              <a:buNone/>
            </a:pPr>
            <a:r>
              <a:rPr lang="en-US" sz="1200" dirty="0">
                <a:solidFill>
                  <a:srgbClr val="1E2A28"/>
                </a:solidFill>
                <a:latin typeface="Courier New" pitchFamily="34" charset="0"/>
                <a:ea typeface="Courier New" pitchFamily="34" charset="-122"/>
                <a:cs typeface="Courier New" pitchFamily="34" charset="-120"/>
              </a:rPr>
              <a:t>Gradient boosting      0.422      0.449    0.027        0.275        0.646</a:t>
            </a:r>
            <a:endParaRPr lang="en-US" sz="1200" dirty="0"/>
          </a:p>
        </p:txBody>
      </p:sp>
      <p:sp>
        <p:nvSpPr>
          <p:cNvPr id="9" name="Shape 7"/>
          <p:cNvSpPr/>
          <p:nvPr/>
        </p:nvSpPr>
        <p:spPr>
          <a:xfrm>
            <a:off x="548640" y="4590288"/>
            <a:ext cx="3493008" cy="1581912"/>
          </a:xfrm>
          <a:prstGeom prst="roundRect">
            <a:avLst>
              <a:gd name="adj" fmla="val 2890"/>
            </a:avLst>
          </a:prstGeom>
          <a:solidFill>
            <a:srgbClr val="EEF4EF"/>
          </a:solidFill>
          <a:ln w="9525">
            <a:solidFill>
              <a:srgbClr val="D4E2D6"/>
            </a:solidFill>
            <a:prstDash val="solid"/>
          </a:ln>
        </p:spPr>
      </p:sp>
      <p:sp>
        <p:nvSpPr>
          <p:cNvPr id="10" name="Text 8"/>
          <p:cNvSpPr/>
          <p:nvPr/>
        </p:nvSpPr>
        <p:spPr>
          <a:xfrm>
            <a:off x="804672" y="4791456"/>
            <a:ext cx="2980944" cy="347472"/>
          </a:xfrm>
          <a:prstGeom prst="rect">
            <a:avLst/>
          </a:prstGeom>
          <a:noFill/>
          <a:ln/>
        </p:spPr>
        <p:txBody>
          <a:bodyPr wrap="square" lIns="0" tIns="0" rIns="0" bIns="0" rtlCol="0" anchor="ctr"/>
          <a:lstStyle/>
          <a:p>
            <a:pPr indent="0" marL="0">
              <a:buNone/>
            </a:pPr>
            <a:r>
              <a:rPr lang="en-US" sz="1300" b="1" dirty="0">
                <a:solidFill>
                  <a:srgbClr val="0E4D45"/>
                </a:solidFill>
                <a:latin typeface="Calibri" pitchFamily="34" charset="0"/>
                <a:ea typeface="Calibri" pitchFamily="34" charset="-122"/>
                <a:cs typeface="Calibri" pitchFamily="34" charset="-120"/>
              </a:rPr>
              <a:t>Búsqueda</a:t>
            </a:r>
            <a:endParaRPr lang="en-US" sz="1300" dirty="0"/>
          </a:p>
        </p:txBody>
      </p:sp>
      <p:sp>
        <p:nvSpPr>
          <p:cNvPr id="11" name="Text 9"/>
          <p:cNvSpPr/>
          <p:nvPr/>
        </p:nvSpPr>
        <p:spPr>
          <a:xfrm>
            <a:off x="804672" y="5193792"/>
            <a:ext cx="2980944" cy="758952"/>
          </a:xfrm>
          <a:prstGeom prst="rect">
            <a:avLst/>
          </a:prstGeom>
          <a:noFill/>
          <a:ln/>
        </p:spPr>
        <p:txBody>
          <a:bodyPr wrap="square" lIns="0" tIns="0" rIns="0" bIns="0" rtlCol="0" anchor="t"/>
          <a:lstStyle/>
          <a:p>
            <a:pPr indent="0" marL="0">
              <a:buNone/>
            </a:pPr>
            <a:r>
              <a:rPr lang="en-US" sz="1200" dirty="0">
                <a:solidFill>
                  <a:srgbClr val="1E2A28"/>
                </a:solidFill>
                <a:latin typeface="Calibri" pitchFamily="34" charset="0"/>
                <a:ea typeface="Calibri" pitchFamily="34" charset="-122"/>
                <a:cs typeface="Calibri" pitchFamily="34" charset="-120"/>
              </a:rPr>
              <a:t>Malla en logística (8) y árbol (400). Aleatoria en random forest (12) y gradient boosting (15).</a:t>
            </a:r>
            <a:endParaRPr lang="en-US" sz="1200" dirty="0"/>
          </a:p>
        </p:txBody>
      </p:sp>
      <p:sp>
        <p:nvSpPr>
          <p:cNvPr id="12" name="Shape 10"/>
          <p:cNvSpPr/>
          <p:nvPr/>
        </p:nvSpPr>
        <p:spPr>
          <a:xfrm>
            <a:off x="4334256" y="4590288"/>
            <a:ext cx="3493008" cy="1581912"/>
          </a:xfrm>
          <a:prstGeom prst="roundRect">
            <a:avLst>
              <a:gd name="adj" fmla="val 2890"/>
            </a:avLst>
          </a:prstGeom>
          <a:solidFill>
            <a:srgbClr val="EEF4EF"/>
          </a:solidFill>
          <a:ln w="9525">
            <a:solidFill>
              <a:srgbClr val="D4E2D6"/>
            </a:solidFill>
            <a:prstDash val="solid"/>
          </a:ln>
        </p:spPr>
      </p:sp>
      <p:sp>
        <p:nvSpPr>
          <p:cNvPr id="13" name="Text 11"/>
          <p:cNvSpPr/>
          <p:nvPr/>
        </p:nvSpPr>
        <p:spPr>
          <a:xfrm>
            <a:off x="4590288" y="4791456"/>
            <a:ext cx="2980944" cy="347472"/>
          </a:xfrm>
          <a:prstGeom prst="rect">
            <a:avLst/>
          </a:prstGeom>
          <a:noFill/>
          <a:ln/>
        </p:spPr>
        <p:txBody>
          <a:bodyPr wrap="square" lIns="0" tIns="0" rIns="0" bIns="0" rtlCol="0" anchor="ctr"/>
          <a:lstStyle/>
          <a:p>
            <a:pPr indent="0" marL="0">
              <a:buNone/>
            </a:pPr>
            <a:r>
              <a:rPr lang="en-US" sz="1300" b="1" dirty="0">
                <a:solidFill>
                  <a:srgbClr val="0E4D45"/>
                </a:solidFill>
                <a:latin typeface="Calibri" pitchFamily="34" charset="0"/>
                <a:ea typeface="Calibri" pitchFamily="34" charset="-122"/>
                <a:cs typeface="Calibri" pitchFamily="34" charset="-120"/>
              </a:rPr>
              <a:t>Mejor F1 macro</a:t>
            </a:r>
            <a:endParaRPr lang="en-US" sz="1300" dirty="0"/>
          </a:p>
        </p:txBody>
      </p:sp>
      <p:sp>
        <p:nvSpPr>
          <p:cNvPr id="14" name="Text 12"/>
          <p:cNvSpPr/>
          <p:nvPr/>
        </p:nvSpPr>
        <p:spPr>
          <a:xfrm>
            <a:off x="4590288" y="5193792"/>
            <a:ext cx="2980944" cy="758952"/>
          </a:xfrm>
          <a:prstGeom prst="rect">
            <a:avLst/>
          </a:prstGeom>
          <a:noFill/>
          <a:ln/>
        </p:spPr>
        <p:txBody>
          <a:bodyPr wrap="square" lIns="0" tIns="0" rIns="0" bIns="0" rtlCol="0" anchor="t"/>
          <a:lstStyle/>
          <a:p>
            <a:pPr indent="0" marL="0">
              <a:buNone/>
            </a:pPr>
            <a:r>
              <a:rPr lang="en-US" sz="1200" dirty="0">
                <a:solidFill>
                  <a:srgbClr val="1E2A28"/>
                </a:solidFill>
                <a:latin typeface="Calibri" pitchFamily="34" charset="0"/>
                <a:ea typeface="Calibri" pitchFamily="34" charset="-122"/>
                <a:cs typeface="Calibri" pitchFamily="34" charset="-120"/>
              </a:rPr>
              <a:t>Random forest: 0.439, contra 0.305 del baseline y 0.427 de la logística.</a:t>
            </a:r>
            <a:endParaRPr lang="en-US" sz="1200" dirty="0"/>
          </a:p>
        </p:txBody>
      </p:sp>
      <p:sp>
        <p:nvSpPr>
          <p:cNvPr id="15" name="Shape 13"/>
          <p:cNvSpPr/>
          <p:nvPr/>
        </p:nvSpPr>
        <p:spPr>
          <a:xfrm>
            <a:off x="8119872" y="4590288"/>
            <a:ext cx="3493008" cy="1581912"/>
          </a:xfrm>
          <a:prstGeom prst="roundRect">
            <a:avLst>
              <a:gd name="adj" fmla="val 2890"/>
            </a:avLst>
          </a:prstGeom>
          <a:solidFill>
            <a:srgbClr val="EEF4EF"/>
          </a:solidFill>
          <a:ln w="9525">
            <a:solidFill>
              <a:srgbClr val="D4E2D6"/>
            </a:solidFill>
            <a:prstDash val="solid"/>
          </a:ln>
        </p:spPr>
      </p:sp>
      <p:sp>
        <p:nvSpPr>
          <p:cNvPr id="16" name="Text 14"/>
          <p:cNvSpPr/>
          <p:nvPr/>
        </p:nvSpPr>
        <p:spPr>
          <a:xfrm>
            <a:off x="8375904" y="4791456"/>
            <a:ext cx="2980944" cy="347472"/>
          </a:xfrm>
          <a:prstGeom prst="rect">
            <a:avLst/>
          </a:prstGeom>
          <a:noFill/>
          <a:ln/>
        </p:spPr>
        <p:txBody>
          <a:bodyPr wrap="square" lIns="0" tIns="0" rIns="0" bIns="0" rtlCol="0" anchor="ctr"/>
          <a:lstStyle/>
          <a:p>
            <a:pPr indent="0" marL="0">
              <a:buNone/>
            </a:pPr>
            <a:r>
              <a:rPr lang="en-US" sz="1300" b="1" dirty="0">
                <a:solidFill>
                  <a:srgbClr val="3F8A26"/>
                </a:solidFill>
                <a:latin typeface="Calibri" pitchFamily="34" charset="0"/>
                <a:ea typeface="Calibri" pitchFamily="34" charset="-122"/>
                <a:cs typeface="Calibri" pitchFamily="34" charset="-120"/>
              </a:rPr>
              <a:t>Pero</a:t>
            </a:r>
            <a:endParaRPr lang="en-US" sz="1300" dirty="0"/>
          </a:p>
        </p:txBody>
      </p:sp>
      <p:sp>
        <p:nvSpPr>
          <p:cNvPr id="17" name="Text 15"/>
          <p:cNvSpPr/>
          <p:nvPr/>
        </p:nvSpPr>
        <p:spPr>
          <a:xfrm>
            <a:off x="8375904" y="5193792"/>
            <a:ext cx="2980944" cy="758952"/>
          </a:xfrm>
          <a:prstGeom prst="rect">
            <a:avLst/>
          </a:prstGeom>
          <a:noFill/>
          <a:ln/>
        </p:spPr>
        <p:txBody>
          <a:bodyPr wrap="square" lIns="0" tIns="0" rIns="0" bIns="0" rtlCol="0" anchor="t"/>
          <a:lstStyle/>
          <a:p>
            <a:pPr indent="0" marL="0">
              <a:buNone/>
            </a:pPr>
            <a:r>
              <a:rPr lang="en-US" sz="1200" dirty="0">
                <a:solidFill>
                  <a:srgbClr val="1E2A28"/>
                </a:solidFill>
                <a:latin typeface="Calibri" pitchFamily="34" charset="0"/>
                <a:ea typeface="Calibri" pitchFamily="34" charset="-122"/>
                <a:cs typeface="Calibri" pitchFamily="34" charset="-120"/>
              </a:rPr>
              <a:t>El random forest casi no predice prediabetes (recall 0.008).</a:t>
            </a:r>
            <a:endParaRPr lang="en-US" sz="1200" dirty="0"/>
          </a:p>
        </p:txBody>
      </p:sp>
      <p:sp>
        <p:nvSpPr>
          <p:cNvPr id="19" name="Text 16"/>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1000" dirty="0">
                <a:solidFill>
                  <a:srgbClr val="7F8F8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420624"/>
            <a:ext cx="402336" cy="402336"/>
          </a:xfrm>
          <a:prstGeom prst="ellipse">
            <a:avLst/>
          </a:prstGeom>
          <a:solidFill>
            <a:srgbClr val="0E4D45"/>
          </a:solidFill>
          <a:ln/>
        </p:spPr>
      </p:sp>
      <p:sp>
        <p:nvSpPr>
          <p:cNvPr id="3" name="Text 1"/>
          <p:cNvSpPr/>
          <p:nvPr/>
        </p:nvSpPr>
        <p:spPr>
          <a:xfrm>
            <a:off x="548640" y="42062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4" name="Text 2"/>
          <p:cNvSpPr/>
          <p:nvPr/>
        </p:nvSpPr>
        <p:spPr>
          <a:xfrm>
            <a:off x="1097280" y="457200"/>
            <a:ext cx="9601200" cy="329184"/>
          </a:xfrm>
          <a:prstGeom prst="rect">
            <a:avLst/>
          </a:prstGeom>
          <a:noFill/>
          <a:ln/>
        </p:spPr>
        <p:txBody>
          <a:bodyPr wrap="square" lIns="0" tIns="0" rIns="0" bIns="0" rtlCol="0" anchor="ctr"/>
          <a:lstStyle/>
          <a:p>
            <a:pPr indent="0" marL="0">
              <a:buNone/>
            </a:pPr>
            <a:r>
              <a:rPr lang="en-US" sz="1100" b="1" spc="140" kern="0" dirty="0">
                <a:solidFill>
                  <a:srgbClr val="3F8A26"/>
                </a:solidFill>
                <a:latin typeface="Calibri" pitchFamily="34" charset="0"/>
                <a:ea typeface="Calibri" pitchFamily="34" charset="-122"/>
                <a:cs typeface="Calibri" pitchFamily="34" charset="-120"/>
              </a:rPr>
              <a:t>MODELOS | COMPARACIÓN</a:t>
            </a:r>
            <a:endParaRPr lang="en-US" sz="1100" dirty="0"/>
          </a:p>
        </p:txBody>
      </p:sp>
      <p:sp>
        <p:nvSpPr>
          <p:cNvPr id="5" name="Text 3"/>
          <p:cNvSpPr/>
          <p:nvPr/>
        </p:nvSpPr>
        <p:spPr>
          <a:xfrm>
            <a:off x="548640" y="960120"/>
            <a:ext cx="11064240" cy="658368"/>
          </a:xfrm>
          <a:prstGeom prst="rect">
            <a:avLst/>
          </a:prstGeom>
          <a:noFill/>
          <a:ln/>
        </p:spPr>
        <p:txBody>
          <a:bodyPr wrap="square" lIns="0" tIns="0" rIns="0" bIns="0" rtlCol="0" anchor="t"/>
          <a:lstStyle/>
          <a:p>
            <a:pPr indent="0" marL="0">
              <a:buNone/>
            </a:pPr>
            <a:r>
              <a:rPr lang="en-US" sz="2600" b="1" dirty="0">
                <a:solidFill>
                  <a:srgbClr val="0E4D45"/>
                </a:solidFill>
                <a:latin typeface="Cambria" pitchFamily="34" charset="0"/>
                <a:ea typeface="Cambria" pitchFamily="34" charset="-122"/>
                <a:cs typeface="Cambria" pitchFamily="34" charset="-120"/>
              </a:rPr>
              <a:t>Dos grupos: los que detectan prediabetes y los que no</a:t>
            </a:r>
            <a:endParaRPr lang="en-US" sz="2600" dirty="0"/>
          </a:p>
        </p:txBody>
      </p:sp>
      <p:pic>
        <p:nvPicPr>
          <p:cNvPr id="6" name="Image 0" descr="/Users/fabianprado/Documents/projects/2026 - 2 /ai/proyecto2/resultados/figuras/comparacion_modelos.png">    </p:cNvPr>
          <p:cNvPicPr>
            <a:picLocks noChangeAspect="1"/>
          </p:cNvPicPr>
          <p:nvPr/>
        </p:nvPicPr>
        <p:blipFill>
          <a:blip r:embed="rId1"/>
          <a:stretch>
            <a:fillRect/>
          </a:stretch>
        </p:blipFill>
        <p:spPr>
          <a:xfrm>
            <a:off x="1114994" y="1691640"/>
            <a:ext cx="9931532" cy="3108960"/>
          </a:xfrm>
          <a:prstGeom prst="rect">
            <a:avLst/>
          </a:prstGeom>
        </p:spPr>
      </p:pic>
      <p:sp>
        <p:nvSpPr>
          <p:cNvPr id="7" name="Shape 4"/>
          <p:cNvSpPr/>
          <p:nvPr/>
        </p:nvSpPr>
        <p:spPr>
          <a:xfrm>
            <a:off x="548640" y="5029200"/>
            <a:ext cx="11064240" cy="1143000"/>
          </a:xfrm>
          <a:prstGeom prst="roundRect">
            <a:avLst>
              <a:gd name="adj" fmla="val 4000"/>
            </a:avLst>
          </a:prstGeom>
          <a:solidFill>
            <a:srgbClr val="EEF4EF"/>
          </a:solidFill>
          <a:ln w="9525">
            <a:solidFill>
              <a:srgbClr val="D4E2D6"/>
            </a:solidFill>
            <a:prstDash val="solid"/>
          </a:ln>
        </p:spPr>
      </p:sp>
      <p:sp>
        <p:nvSpPr>
          <p:cNvPr id="8" name="Text 5"/>
          <p:cNvSpPr/>
          <p:nvPr/>
        </p:nvSpPr>
        <p:spPr>
          <a:xfrm>
            <a:off x="804672" y="5230368"/>
            <a:ext cx="10552176" cy="347472"/>
          </a:xfrm>
          <a:prstGeom prst="rect">
            <a:avLst/>
          </a:prstGeom>
          <a:noFill/>
          <a:ln/>
        </p:spPr>
        <p:txBody>
          <a:bodyPr wrap="square" lIns="0" tIns="0" rIns="0" bIns="0" rtlCol="0" anchor="ctr"/>
          <a:lstStyle/>
          <a:p>
            <a:pPr indent="0" marL="0">
              <a:buNone/>
            </a:pPr>
            <a:r>
              <a:rPr lang="en-US" sz="1300" b="1" dirty="0">
                <a:solidFill>
                  <a:srgbClr val="0E4D45"/>
                </a:solidFill>
                <a:latin typeface="Calibri" pitchFamily="34" charset="0"/>
                <a:ea typeface="Calibri" pitchFamily="34" charset="-122"/>
                <a:cs typeface="Calibri" pitchFamily="34" charset="-120"/>
              </a:rPr>
              <a:t>Lectura</a:t>
            </a:r>
            <a:endParaRPr lang="en-US" sz="1300" dirty="0"/>
          </a:p>
        </p:txBody>
      </p:sp>
      <p:sp>
        <p:nvSpPr>
          <p:cNvPr id="9" name="Text 6"/>
          <p:cNvSpPr/>
          <p:nvPr/>
        </p:nvSpPr>
        <p:spPr>
          <a:xfrm>
            <a:off x="804672" y="5632704"/>
            <a:ext cx="10552176" cy="320040"/>
          </a:xfrm>
          <a:prstGeom prst="rect">
            <a:avLst/>
          </a:prstGeom>
          <a:noFill/>
          <a:ln/>
        </p:spPr>
        <p:txBody>
          <a:bodyPr wrap="square" lIns="0" tIns="0" rIns="0" bIns="0" rtlCol="0" anchor="t"/>
          <a:lstStyle/>
          <a:p>
            <a:pPr indent="0" marL="0">
              <a:buNone/>
            </a:pPr>
            <a:r>
              <a:rPr lang="en-US" sz="1200" dirty="0">
                <a:solidFill>
                  <a:srgbClr val="1E2A28"/>
                </a:solidFill>
                <a:latin typeface="Calibri" pitchFamily="34" charset="0"/>
                <a:ea typeface="Calibri" pitchFamily="34" charset="-122"/>
                <a:cs typeface="Calibri" pitchFamily="34" charset="-120"/>
              </a:rPr>
              <a:t>Logística y gradient boosting encuentran al 28-30% de la prediabetes y casi no se sobreajustan. Árbol y random forest tienen las brechas más grandes (0.12 y 0.21) y casi nunca predicen prediabetes. El F1 macro premia más su ventaja en las otras dos clases.</a:t>
            </a:r>
            <a:endParaRPr lang="en-US" sz="1200" dirty="0"/>
          </a:p>
        </p:txBody>
      </p:sp>
      <p:sp>
        <p:nvSpPr>
          <p:cNvPr id="11" name="Text 7"/>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1000" dirty="0">
                <a:solidFill>
                  <a:srgbClr val="7F8F8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420624"/>
            <a:ext cx="402336" cy="402336"/>
          </a:xfrm>
          <a:prstGeom prst="ellipse">
            <a:avLst/>
          </a:prstGeom>
          <a:solidFill>
            <a:srgbClr val="0E4D45"/>
          </a:solidFill>
          <a:ln/>
        </p:spPr>
      </p:sp>
      <p:sp>
        <p:nvSpPr>
          <p:cNvPr id="3" name="Text 1"/>
          <p:cNvSpPr/>
          <p:nvPr/>
        </p:nvSpPr>
        <p:spPr>
          <a:xfrm>
            <a:off x="548640" y="42062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4" name="Text 2"/>
          <p:cNvSpPr/>
          <p:nvPr/>
        </p:nvSpPr>
        <p:spPr>
          <a:xfrm>
            <a:off x="1097280" y="457200"/>
            <a:ext cx="9601200" cy="329184"/>
          </a:xfrm>
          <a:prstGeom prst="rect">
            <a:avLst/>
          </a:prstGeom>
          <a:noFill/>
          <a:ln/>
        </p:spPr>
        <p:txBody>
          <a:bodyPr wrap="square" lIns="0" tIns="0" rIns="0" bIns="0" rtlCol="0" anchor="ctr"/>
          <a:lstStyle/>
          <a:p>
            <a:pPr indent="0" marL="0">
              <a:buNone/>
            </a:pPr>
            <a:r>
              <a:rPr lang="en-US" sz="1100" b="1" spc="140" kern="0" dirty="0">
                <a:solidFill>
                  <a:srgbClr val="3F8A26"/>
                </a:solidFill>
                <a:latin typeface="Calibri" pitchFamily="34" charset="0"/>
                <a:ea typeface="Calibri" pitchFamily="34" charset="-122"/>
                <a:cs typeface="Calibri" pitchFamily="34" charset="-120"/>
              </a:rPr>
              <a:t>EVALUACIÓN | CONJUNTO DE PRUEBA</a:t>
            </a:r>
            <a:endParaRPr lang="en-US" sz="1100" dirty="0"/>
          </a:p>
        </p:txBody>
      </p:sp>
      <p:sp>
        <p:nvSpPr>
          <p:cNvPr id="5" name="Text 3"/>
          <p:cNvSpPr/>
          <p:nvPr/>
        </p:nvSpPr>
        <p:spPr>
          <a:xfrm>
            <a:off x="548640" y="960120"/>
            <a:ext cx="11064240" cy="658368"/>
          </a:xfrm>
          <a:prstGeom prst="rect">
            <a:avLst/>
          </a:prstGeom>
          <a:noFill/>
          <a:ln/>
        </p:spPr>
        <p:txBody>
          <a:bodyPr wrap="square" lIns="0" tIns="0" rIns="0" bIns="0" rtlCol="0" anchor="t"/>
          <a:lstStyle/>
          <a:p>
            <a:pPr indent="0" marL="0">
              <a:buNone/>
            </a:pPr>
            <a:r>
              <a:rPr lang="en-US" sz="2600" b="1" dirty="0">
                <a:solidFill>
                  <a:srgbClr val="0E4D45"/>
                </a:solidFill>
                <a:latin typeface="Cambria" pitchFamily="34" charset="0"/>
                <a:ea typeface="Cambria" pitchFamily="34" charset="-122"/>
                <a:cs typeface="Cambria" pitchFamily="34" charset="-120"/>
              </a:rPr>
              <a:t>Random forest en prueba: F1 macro 0.438</a:t>
            </a:r>
            <a:endParaRPr lang="en-US" sz="2600" dirty="0"/>
          </a:p>
        </p:txBody>
      </p:sp>
      <p:pic>
        <p:nvPicPr>
          <p:cNvPr id="6" name="Image 0" descr="/Users/fabianprado/Documents/projects/2026 - 2 /ai/proyecto2/resultados/figuras/matriz_confusion_test.png">    </p:cNvPr>
          <p:cNvPicPr>
            <a:picLocks noChangeAspect="1"/>
          </p:cNvPicPr>
          <p:nvPr/>
        </p:nvPicPr>
        <p:blipFill>
          <a:blip r:embed="rId1"/>
          <a:stretch>
            <a:fillRect/>
          </a:stretch>
        </p:blipFill>
        <p:spPr>
          <a:xfrm>
            <a:off x="2243555" y="1691640"/>
            <a:ext cx="7674410" cy="3108960"/>
          </a:xfrm>
          <a:prstGeom prst="rect">
            <a:avLst/>
          </a:prstGeom>
        </p:spPr>
      </p:pic>
      <p:sp>
        <p:nvSpPr>
          <p:cNvPr id="7" name="Shape 4"/>
          <p:cNvSpPr/>
          <p:nvPr/>
        </p:nvSpPr>
        <p:spPr>
          <a:xfrm>
            <a:off x="548640" y="5029200"/>
            <a:ext cx="11064240" cy="1143000"/>
          </a:xfrm>
          <a:prstGeom prst="roundRect">
            <a:avLst>
              <a:gd name="adj" fmla="val 4000"/>
            </a:avLst>
          </a:prstGeom>
          <a:solidFill>
            <a:srgbClr val="EEF4EF"/>
          </a:solidFill>
          <a:ln w="9525">
            <a:solidFill>
              <a:srgbClr val="D4E2D6"/>
            </a:solidFill>
            <a:prstDash val="solid"/>
          </a:ln>
        </p:spPr>
      </p:sp>
      <p:sp>
        <p:nvSpPr>
          <p:cNvPr id="8" name="Text 5"/>
          <p:cNvSpPr/>
          <p:nvPr/>
        </p:nvSpPr>
        <p:spPr>
          <a:xfrm>
            <a:off x="804672" y="5230368"/>
            <a:ext cx="10552176" cy="347472"/>
          </a:xfrm>
          <a:prstGeom prst="rect">
            <a:avLst/>
          </a:prstGeom>
          <a:noFill/>
          <a:ln/>
        </p:spPr>
        <p:txBody>
          <a:bodyPr wrap="square" lIns="0" tIns="0" rIns="0" bIns="0" rtlCol="0" anchor="ctr"/>
          <a:lstStyle/>
          <a:p>
            <a:pPr indent="0" marL="0">
              <a:buNone/>
            </a:pPr>
            <a:r>
              <a:rPr lang="en-US" sz="1300" b="1" dirty="0">
                <a:solidFill>
                  <a:srgbClr val="0E4D45"/>
                </a:solidFill>
                <a:latin typeface="Calibri" pitchFamily="34" charset="0"/>
                <a:ea typeface="Calibri" pitchFamily="34" charset="-122"/>
                <a:cs typeface="Calibri" pitchFamily="34" charset="-120"/>
              </a:rPr>
              <a:t>Resultado</a:t>
            </a:r>
            <a:endParaRPr lang="en-US" sz="1300" dirty="0"/>
          </a:p>
        </p:txBody>
      </p:sp>
      <p:sp>
        <p:nvSpPr>
          <p:cNvPr id="9" name="Text 6"/>
          <p:cNvSpPr/>
          <p:nvPr/>
        </p:nvSpPr>
        <p:spPr>
          <a:xfrm>
            <a:off x="804672" y="5632704"/>
            <a:ext cx="10552176" cy="320040"/>
          </a:xfrm>
          <a:prstGeom prst="rect">
            <a:avLst/>
          </a:prstGeom>
          <a:noFill/>
          <a:ln/>
        </p:spPr>
        <p:txBody>
          <a:bodyPr wrap="square" lIns="0" tIns="0" rIns="0" bIns="0" rtlCol="0" anchor="t"/>
          <a:lstStyle/>
          <a:p>
            <a:pPr indent="0" marL="0">
              <a:buNone/>
            </a:pPr>
            <a:r>
              <a:rPr lang="en-US" sz="1200" dirty="0">
                <a:solidFill>
                  <a:srgbClr val="1E2A28"/>
                </a:solidFill>
                <a:latin typeface="Calibri" pitchFamily="34" charset="0"/>
                <a:ea typeface="Calibri" pitchFamily="34" charset="-122"/>
                <a:cs typeface="Calibri" pitchFamily="34" charset="-120"/>
              </a:rPr>
              <a:t>Igual que en validación (0.439), contra 0.305 del baseline. Detecta a 4,942 de 7,069 personas con diabetes (70%) y marca como diabetes al 22% de las sanas. Prediabetes: 7 de 926 aciertos.</a:t>
            </a:r>
            <a:endParaRPr lang="en-US" sz="1200" dirty="0"/>
          </a:p>
        </p:txBody>
      </p:sp>
      <p:sp>
        <p:nvSpPr>
          <p:cNvPr id="11" name="Text 7"/>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1000" dirty="0">
                <a:solidFill>
                  <a:srgbClr val="7F8F8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420624"/>
            <a:ext cx="402336" cy="402336"/>
          </a:xfrm>
          <a:prstGeom prst="ellipse">
            <a:avLst/>
          </a:prstGeom>
          <a:solidFill>
            <a:srgbClr val="0E4D45"/>
          </a:solidFill>
          <a:ln/>
        </p:spPr>
      </p:sp>
      <p:sp>
        <p:nvSpPr>
          <p:cNvPr id="3" name="Text 1"/>
          <p:cNvSpPr/>
          <p:nvPr/>
        </p:nvSpPr>
        <p:spPr>
          <a:xfrm>
            <a:off x="548640" y="42062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4" name="Text 2"/>
          <p:cNvSpPr/>
          <p:nvPr/>
        </p:nvSpPr>
        <p:spPr>
          <a:xfrm>
            <a:off x="1097280" y="457200"/>
            <a:ext cx="9601200" cy="329184"/>
          </a:xfrm>
          <a:prstGeom prst="rect">
            <a:avLst/>
          </a:prstGeom>
          <a:noFill/>
          <a:ln/>
        </p:spPr>
        <p:txBody>
          <a:bodyPr wrap="square" lIns="0" tIns="0" rIns="0" bIns="0" rtlCol="0" anchor="ctr"/>
          <a:lstStyle/>
          <a:p>
            <a:pPr indent="0" marL="0">
              <a:buNone/>
            </a:pPr>
            <a:r>
              <a:rPr lang="en-US" sz="1100" b="1" spc="140" kern="0" dirty="0">
                <a:solidFill>
                  <a:srgbClr val="3F8A26"/>
                </a:solidFill>
                <a:latin typeface="Calibri" pitchFamily="34" charset="0"/>
                <a:ea typeface="Calibri" pitchFamily="34" charset="-122"/>
                <a:cs typeface="Calibri" pitchFamily="34" charset="-120"/>
              </a:rPr>
              <a:t>ERRORES | ANÁLISIS</a:t>
            </a:r>
            <a:endParaRPr lang="en-US" sz="1100" dirty="0"/>
          </a:p>
        </p:txBody>
      </p:sp>
      <p:sp>
        <p:nvSpPr>
          <p:cNvPr id="5" name="Text 3"/>
          <p:cNvSpPr/>
          <p:nvPr/>
        </p:nvSpPr>
        <p:spPr>
          <a:xfrm>
            <a:off x="548640" y="960120"/>
            <a:ext cx="11064240" cy="658368"/>
          </a:xfrm>
          <a:prstGeom prst="rect">
            <a:avLst/>
          </a:prstGeom>
          <a:noFill/>
          <a:ln/>
        </p:spPr>
        <p:txBody>
          <a:bodyPr wrap="square" lIns="0" tIns="0" rIns="0" bIns="0" rtlCol="0" anchor="t"/>
          <a:lstStyle/>
          <a:p>
            <a:pPr indent="0" marL="0">
              <a:buNone/>
            </a:pPr>
            <a:r>
              <a:rPr lang="en-US" sz="2600" b="1" dirty="0">
                <a:solidFill>
                  <a:srgbClr val="0E4D45"/>
                </a:solidFill>
                <a:latin typeface="Cambria" pitchFamily="34" charset="0"/>
                <a:ea typeface="Cambria" pitchFamily="34" charset="-122"/>
                <a:cs typeface="Cambria" pitchFamily="34" charset="-120"/>
              </a:rPr>
              <a:t>El modelo aprendió un perfil de riesgo, no la diabetes</a:t>
            </a:r>
            <a:endParaRPr lang="en-US" sz="2600" dirty="0"/>
          </a:p>
        </p:txBody>
      </p:sp>
      <p:sp>
        <p:nvSpPr>
          <p:cNvPr id="6" name="Shape 4"/>
          <p:cNvSpPr/>
          <p:nvPr/>
        </p:nvSpPr>
        <p:spPr>
          <a:xfrm>
            <a:off x="548640" y="1783080"/>
            <a:ext cx="11064240" cy="2048256"/>
          </a:xfrm>
          <a:prstGeom prst="roundRect">
            <a:avLst>
              <a:gd name="adj" fmla="val 2232"/>
            </a:avLst>
          </a:prstGeom>
          <a:solidFill>
            <a:srgbClr val="EEF4EF"/>
          </a:solidFill>
          <a:ln w="9525">
            <a:solidFill>
              <a:srgbClr val="D4E2D6"/>
            </a:solidFill>
            <a:prstDash val="solid"/>
          </a:ln>
        </p:spPr>
      </p:sp>
      <p:sp>
        <p:nvSpPr>
          <p:cNvPr id="7" name="Text 5"/>
          <p:cNvSpPr/>
          <p:nvPr/>
        </p:nvSpPr>
        <p:spPr>
          <a:xfrm>
            <a:off x="804672" y="1984248"/>
            <a:ext cx="10552176" cy="347472"/>
          </a:xfrm>
          <a:prstGeom prst="rect">
            <a:avLst/>
          </a:prstGeom>
          <a:noFill/>
          <a:ln/>
        </p:spPr>
        <p:txBody>
          <a:bodyPr wrap="square" lIns="0" tIns="0" rIns="0" bIns="0" rtlCol="0" anchor="ctr"/>
          <a:lstStyle/>
          <a:p>
            <a:pPr indent="0" marL="0">
              <a:buNone/>
            </a:pPr>
            <a:r>
              <a:rPr lang="en-US" sz="1300" b="1" dirty="0">
                <a:solidFill>
                  <a:srgbClr val="0E4D45"/>
                </a:solidFill>
                <a:latin typeface="Calibri" pitchFamily="34" charset="0"/>
                <a:ea typeface="Calibri" pitchFamily="34" charset="-122"/>
                <a:cs typeface="Calibri" pitchFamily="34" charset="-120"/>
              </a:rPr>
              <a:t>Perfil promedio en prueba</a:t>
            </a:r>
            <a:endParaRPr lang="en-US" sz="1300" dirty="0"/>
          </a:p>
        </p:txBody>
      </p:sp>
      <p:sp>
        <p:nvSpPr>
          <p:cNvPr id="8" name="Text 6"/>
          <p:cNvSpPr/>
          <p:nvPr/>
        </p:nvSpPr>
        <p:spPr>
          <a:xfrm>
            <a:off x="804672" y="2386584"/>
            <a:ext cx="10552176" cy="122529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A28"/>
                </a:solidFill>
                <a:latin typeface="Calibri" pitchFamily="34" charset="0"/>
                <a:ea typeface="Calibri" pitchFamily="34" charset="-122"/>
                <a:cs typeface="Calibri" pitchFamily="34" charset="-120"/>
              </a:rPr>
              <a:t>Diabetes no detectada: 43% presión alta, IMC 27.9, buena salud general (2.5 de 5).</a:t>
            </a:r>
            <a:endParaRPr lang="en-US" sz="1200" dirty="0"/>
          </a:p>
          <a:p>
            <a:pPr marL="342900" indent="-342900">
              <a:spcAft>
                <a:spcPts val="600"/>
              </a:spcAft>
              <a:buSzPct val="100000"/>
              <a:buChar char="•"/>
            </a:pPr>
            <a:r>
              <a:rPr lang="en-US" sz="1200" dirty="0">
                <a:solidFill>
                  <a:srgbClr val="1E2A28"/>
                </a:solidFill>
                <a:latin typeface="Calibri" pitchFamily="34" charset="0"/>
                <a:ea typeface="Calibri" pitchFamily="34" charset="-122"/>
                <a:cs typeface="Calibri" pitchFamily="34" charset="-120"/>
              </a:rPr>
              <a:t>Diabetes detectada: 88% presión alta, IMC 33.4, salud general 3.6.</a:t>
            </a:r>
            <a:endParaRPr lang="en-US" sz="1200" dirty="0"/>
          </a:p>
          <a:p>
            <a:pPr marL="342900" indent="-342900">
              <a:spcAft>
                <a:spcPts val="600"/>
              </a:spcAft>
              <a:buSzPct val="100000"/>
              <a:buChar char="•"/>
            </a:pPr>
            <a:r>
              <a:rPr lang="en-US" sz="1200" dirty="0">
                <a:solidFill>
                  <a:srgbClr val="1E2A28"/>
                </a:solidFill>
                <a:latin typeface="Calibri" pitchFamily="34" charset="0"/>
                <a:ea typeface="Calibri" pitchFamily="34" charset="-122"/>
                <a:cs typeface="Calibri" pitchFamily="34" charset="-120"/>
              </a:rPr>
              <a:t>Falsas alarmas: 84% presión alta, IMC 31.7, salud general 3.4.</a:t>
            </a:r>
            <a:endParaRPr lang="en-US" sz="1200" dirty="0"/>
          </a:p>
        </p:txBody>
      </p:sp>
      <p:sp>
        <p:nvSpPr>
          <p:cNvPr id="9" name="Shape 7"/>
          <p:cNvSpPr/>
          <p:nvPr/>
        </p:nvSpPr>
        <p:spPr>
          <a:xfrm>
            <a:off x="548640" y="4123944"/>
            <a:ext cx="5385816" cy="2048256"/>
          </a:xfrm>
          <a:prstGeom prst="roundRect">
            <a:avLst>
              <a:gd name="adj" fmla="val 2232"/>
            </a:avLst>
          </a:prstGeom>
          <a:solidFill>
            <a:srgbClr val="EEF4EF"/>
          </a:solidFill>
          <a:ln w="9525">
            <a:solidFill>
              <a:srgbClr val="D4E2D6"/>
            </a:solidFill>
            <a:prstDash val="solid"/>
          </a:ln>
        </p:spPr>
      </p:sp>
      <p:sp>
        <p:nvSpPr>
          <p:cNvPr id="10" name="Text 8"/>
          <p:cNvSpPr/>
          <p:nvPr/>
        </p:nvSpPr>
        <p:spPr>
          <a:xfrm>
            <a:off x="804672" y="4325112"/>
            <a:ext cx="4873752" cy="347472"/>
          </a:xfrm>
          <a:prstGeom prst="rect">
            <a:avLst/>
          </a:prstGeom>
          <a:noFill/>
          <a:ln/>
        </p:spPr>
        <p:txBody>
          <a:bodyPr wrap="square" lIns="0" tIns="0" rIns="0" bIns="0" rtlCol="0" anchor="ctr"/>
          <a:lstStyle/>
          <a:p>
            <a:pPr indent="0" marL="0">
              <a:buNone/>
            </a:pPr>
            <a:r>
              <a:rPr lang="en-US" sz="1300" b="1" dirty="0">
                <a:solidFill>
                  <a:srgbClr val="0E4D45"/>
                </a:solidFill>
                <a:latin typeface="Calibri" pitchFamily="34" charset="0"/>
                <a:ea typeface="Calibri" pitchFamily="34" charset="-122"/>
                <a:cs typeface="Calibri" pitchFamily="34" charset="-120"/>
              </a:rPr>
              <a:t>Diabetes no detectada</a:t>
            </a:r>
            <a:endParaRPr lang="en-US" sz="1300" dirty="0"/>
          </a:p>
        </p:txBody>
      </p:sp>
      <p:sp>
        <p:nvSpPr>
          <p:cNvPr id="11" name="Text 9"/>
          <p:cNvSpPr/>
          <p:nvPr/>
        </p:nvSpPr>
        <p:spPr>
          <a:xfrm>
            <a:off x="804672" y="4727448"/>
            <a:ext cx="4873752" cy="122529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A28"/>
                </a:solidFill>
                <a:latin typeface="Calibri" pitchFamily="34" charset="0"/>
                <a:ea typeface="Calibri" pitchFamily="34" charset="-122"/>
                <a:cs typeface="Calibri" pitchFamily="34" charset="-120"/>
              </a:rPr>
              <a:t>Los 5 casos más seguros: 25 a 44 años, IMC 20 a 25, salud excelente, activos, ingreso alto.</a:t>
            </a:r>
            <a:endParaRPr lang="en-US" sz="1200" dirty="0"/>
          </a:p>
          <a:p>
            <a:pPr marL="342900" indent="-342900">
              <a:spcAft>
                <a:spcPts val="600"/>
              </a:spcAft>
              <a:buSzPct val="100000"/>
              <a:buChar char="•"/>
            </a:pPr>
            <a:r>
              <a:rPr lang="en-US" sz="1200" dirty="0">
                <a:solidFill>
                  <a:srgbClr val="1E2A28"/>
                </a:solidFill>
                <a:latin typeface="Calibri" pitchFamily="34" charset="0"/>
                <a:ea typeface="Calibri" pitchFamily="34" charset="-122"/>
                <a:cs typeface="Calibri" pitchFamily="34" charset="-120"/>
              </a:rPr>
              <a:t>Posible diabetes tipo 1 o bien controlada; la encuesta no distingue el tipo.</a:t>
            </a:r>
            <a:endParaRPr lang="en-US" sz="1200" dirty="0"/>
          </a:p>
        </p:txBody>
      </p:sp>
      <p:sp>
        <p:nvSpPr>
          <p:cNvPr id="12" name="Shape 10"/>
          <p:cNvSpPr/>
          <p:nvPr/>
        </p:nvSpPr>
        <p:spPr>
          <a:xfrm>
            <a:off x="6227064" y="4123944"/>
            <a:ext cx="5385816" cy="2048256"/>
          </a:xfrm>
          <a:prstGeom prst="roundRect">
            <a:avLst>
              <a:gd name="adj" fmla="val 2232"/>
            </a:avLst>
          </a:prstGeom>
          <a:solidFill>
            <a:srgbClr val="EEF4EF"/>
          </a:solidFill>
          <a:ln w="9525">
            <a:solidFill>
              <a:srgbClr val="D4E2D6"/>
            </a:solidFill>
            <a:prstDash val="solid"/>
          </a:ln>
        </p:spPr>
      </p:sp>
      <p:sp>
        <p:nvSpPr>
          <p:cNvPr id="13" name="Text 11"/>
          <p:cNvSpPr/>
          <p:nvPr/>
        </p:nvSpPr>
        <p:spPr>
          <a:xfrm>
            <a:off x="6483096" y="4325112"/>
            <a:ext cx="4873752" cy="347472"/>
          </a:xfrm>
          <a:prstGeom prst="rect">
            <a:avLst/>
          </a:prstGeom>
          <a:noFill/>
          <a:ln/>
        </p:spPr>
        <p:txBody>
          <a:bodyPr wrap="square" lIns="0" tIns="0" rIns="0" bIns="0" rtlCol="0" anchor="ctr"/>
          <a:lstStyle/>
          <a:p>
            <a:pPr indent="0" marL="0">
              <a:buNone/>
            </a:pPr>
            <a:r>
              <a:rPr lang="en-US" sz="1300" b="1" dirty="0">
                <a:solidFill>
                  <a:srgbClr val="3F8A26"/>
                </a:solidFill>
                <a:latin typeface="Calibri" pitchFamily="34" charset="0"/>
                <a:ea typeface="Calibri" pitchFamily="34" charset="-122"/>
                <a:cs typeface="Calibri" pitchFamily="34" charset="-120"/>
              </a:rPr>
              <a:t>Falsas alarmas</a:t>
            </a:r>
            <a:endParaRPr lang="en-US" sz="1300" dirty="0"/>
          </a:p>
        </p:txBody>
      </p:sp>
      <p:sp>
        <p:nvSpPr>
          <p:cNvPr id="14" name="Text 12"/>
          <p:cNvSpPr/>
          <p:nvPr/>
        </p:nvSpPr>
        <p:spPr>
          <a:xfrm>
            <a:off x="6483096" y="4727448"/>
            <a:ext cx="4873752" cy="122529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A28"/>
                </a:solidFill>
                <a:latin typeface="Calibri" pitchFamily="34" charset="0"/>
                <a:ea typeface="Calibri" pitchFamily="34" charset="-122"/>
                <a:cs typeface="Calibri" pitchFamily="34" charset="-120"/>
              </a:rPr>
              <a:t>Los 5 casos más seguros: presión y colesterol alto, IMC 39 a 58, salud mala, 55 años o más.</a:t>
            </a:r>
            <a:endParaRPr lang="en-US" sz="1200" dirty="0"/>
          </a:p>
          <a:p>
            <a:pPr marL="342900" indent="-342900">
              <a:spcAft>
                <a:spcPts val="600"/>
              </a:spcAft>
              <a:buSzPct val="100000"/>
              <a:buChar char="•"/>
            </a:pPr>
            <a:r>
              <a:rPr lang="en-US" sz="1200" dirty="0">
                <a:solidFill>
                  <a:srgbClr val="1E2A28"/>
                </a:solidFill>
                <a:latin typeface="Calibri" pitchFamily="34" charset="0"/>
                <a:ea typeface="Calibri" pitchFamily="34" charset="-122"/>
                <a:cs typeface="Calibri" pitchFamily="34" charset="-120"/>
              </a:rPr>
              <a:t>Posible diabetes sin diagnosticar: la etiqueta es autorreportada.</a:t>
            </a:r>
            <a:endParaRPr lang="en-US" sz="1200" dirty="0"/>
          </a:p>
        </p:txBody>
      </p:sp>
      <p:sp>
        <p:nvSpPr>
          <p:cNvPr id="16" name="Text 13"/>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1000" dirty="0">
                <a:solidFill>
                  <a:srgbClr val="7F8F8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420624"/>
            <a:ext cx="402336" cy="402336"/>
          </a:xfrm>
          <a:prstGeom prst="ellipse">
            <a:avLst/>
          </a:prstGeom>
          <a:solidFill>
            <a:srgbClr val="0E4D45"/>
          </a:solidFill>
          <a:ln/>
        </p:spPr>
      </p:sp>
      <p:sp>
        <p:nvSpPr>
          <p:cNvPr id="3" name="Text 1"/>
          <p:cNvSpPr/>
          <p:nvPr/>
        </p:nvSpPr>
        <p:spPr>
          <a:xfrm>
            <a:off x="548640" y="42062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4" name="Text 2"/>
          <p:cNvSpPr/>
          <p:nvPr/>
        </p:nvSpPr>
        <p:spPr>
          <a:xfrm>
            <a:off x="1097280" y="457200"/>
            <a:ext cx="9601200" cy="329184"/>
          </a:xfrm>
          <a:prstGeom prst="rect">
            <a:avLst/>
          </a:prstGeom>
          <a:noFill/>
          <a:ln/>
        </p:spPr>
        <p:txBody>
          <a:bodyPr wrap="square" lIns="0" tIns="0" rIns="0" bIns="0" rtlCol="0" anchor="ctr"/>
          <a:lstStyle/>
          <a:p>
            <a:pPr indent="0" marL="0">
              <a:buNone/>
            </a:pPr>
            <a:r>
              <a:rPr lang="en-US" sz="1100" b="1" spc="140" kern="0" dirty="0">
                <a:solidFill>
                  <a:srgbClr val="3F8A26"/>
                </a:solidFill>
                <a:latin typeface="Calibri" pitchFamily="34" charset="0"/>
                <a:ea typeface="Calibri" pitchFamily="34" charset="-122"/>
                <a:cs typeface="Calibri" pitchFamily="34" charset="-120"/>
              </a:rPr>
              <a:t>ERRORES | SESGOS</a:t>
            </a:r>
            <a:endParaRPr lang="en-US" sz="1100" dirty="0"/>
          </a:p>
        </p:txBody>
      </p:sp>
      <p:sp>
        <p:nvSpPr>
          <p:cNvPr id="5" name="Text 3"/>
          <p:cNvSpPr/>
          <p:nvPr/>
        </p:nvSpPr>
        <p:spPr>
          <a:xfrm>
            <a:off x="548640" y="960120"/>
            <a:ext cx="11064240" cy="658368"/>
          </a:xfrm>
          <a:prstGeom prst="rect">
            <a:avLst/>
          </a:prstGeom>
          <a:noFill/>
          <a:ln/>
        </p:spPr>
        <p:txBody>
          <a:bodyPr wrap="square" lIns="0" tIns="0" rIns="0" bIns="0" rtlCol="0" anchor="t"/>
          <a:lstStyle/>
          <a:p>
            <a:pPr indent="0" marL="0">
              <a:buNone/>
            </a:pPr>
            <a:r>
              <a:rPr lang="en-US" sz="2600" b="1" dirty="0">
                <a:solidFill>
                  <a:srgbClr val="0E4D45"/>
                </a:solidFill>
                <a:latin typeface="Cambria" pitchFamily="34" charset="0"/>
                <a:ea typeface="Cambria" pitchFamily="34" charset="-122"/>
                <a:cs typeface="Cambria" pitchFamily="34" charset="-120"/>
              </a:rPr>
              <a:t>Prediabetes y diferencias entre subgrupos</a:t>
            </a:r>
            <a:endParaRPr lang="en-US" sz="2600" dirty="0"/>
          </a:p>
        </p:txBody>
      </p:sp>
      <p:sp>
        <p:nvSpPr>
          <p:cNvPr id="6" name="Shape 4"/>
          <p:cNvSpPr/>
          <p:nvPr/>
        </p:nvSpPr>
        <p:spPr>
          <a:xfrm>
            <a:off x="548640" y="1783080"/>
            <a:ext cx="5385816" cy="4389120"/>
          </a:xfrm>
          <a:prstGeom prst="roundRect">
            <a:avLst>
              <a:gd name="adj" fmla="val 1042"/>
            </a:avLst>
          </a:prstGeom>
          <a:solidFill>
            <a:srgbClr val="EEF4EF"/>
          </a:solidFill>
          <a:ln w="9525">
            <a:solidFill>
              <a:srgbClr val="D4E2D6"/>
            </a:solidFill>
            <a:prstDash val="solid"/>
          </a:ln>
        </p:spPr>
      </p:sp>
      <p:sp>
        <p:nvSpPr>
          <p:cNvPr id="7" name="Text 5"/>
          <p:cNvSpPr/>
          <p:nvPr/>
        </p:nvSpPr>
        <p:spPr>
          <a:xfrm>
            <a:off x="804672" y="1984248"/>
            <a:ext cx="4873752" cy="347472"/>
          </a:xfrm>
          <a:prstGeom prst="rect">
            <a:avLst/>
          </a:prstGeom>
          <a:noFill/>
          <a:ln/>
        </p:spPr>
        <p:txBody>
          <a:bodyPr wrap="square" lIns="0" tIns="0" rIns="0" bIns="0" rtlCol="0" anchor="ctr"/>
          <a:lstStyle/>
          <a:p>
            <a:pPr indent="0" marL="0">
              <a:buNone/>
            </a:pPr>
            <a:r>
              <a:rPr lang="en-US" sz="1300" b="1" dirty="0">
                <a:solidFill>
                  <a:srgbClr val="0E4D45"/>
                </a:solidFill>
                <a:latin typeface="Calibri" pitchFamily="34" charset="0"/>
                <a:ea typeface="Calibri" pitchFamily="34" charset="-122"/>
                <a:cs typeface="Calibri" pitchFamily="34" charset="-120"/>
              </a:rPr>
              <a:t>Prediabetes</a:t>
            </a:r>
            <a:endParaRPr lang="en-US" sz="1300" dirty="0"/>
          </a:p>
        </p:txBody>
      </p:sp>
      <p:sp>
        <p:nvSpPr>
          <p:cNvPr id="8" name="Text 6"/>
          <p:cNvSpPr/>
          <p:nvPr/>
        </p:nvSpPr>
        <p:spPr>
          <a:xfrm>
            <a:off x="804672" y="2386584"/>
            <a:ext cx="4873752" cy="35661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E2A28"/>
                </a:solidFill>
                <a:latin typeface="Calibri" pitchFamily="34" charset="0"/>
                <a:ea typeface="Calibri" pitchFamily="34" charset="-122"/>
                <a:cs typeface="Calibri" pitchFamily="34" charset="-120"/>
              </a:rPr>
              <a:t>55% se predice como diabetes y 44% como sin diabetes.</a:t>
            </a:r>
            <a:endParaRPr lang="en-US" sz="1250" dirty="0"/>
          </a:p>
          <a:p>
            <a:pPr marL="342900" indent="-342900">
              <a:spcAft>
                <a:spcPts val="600"/>
              </a:spcAft>
              <a:buSzPct val="100000"/>
              <a:buChar char="•"/>
            </a:pPr>
            <a:r>
              <a:rPr lang="en-US" sz="1250" dirty="0">
                <a:solidFill>
                  <a:srgbClr val="1E2A28"/>
                </a:solidFill>
                <a:latin typeface="Calibri" pitchFamily="34" charset="0"/>
                <a:ea typeface="Calibri" pitchFamily="34" charset="-122"/>
                <a:cs typeface="Calibri" pitchFamily="34" charset="-120"/>
              </a:rPr>
              <a:t>En todas las variables queda entre las otras dos clases: presión alta en 64% (37% y 75%).</a:t>
            </a:r>
            <a:endParaRPr lang="en-US" sz="1250" dirty="0"/>
          </a:p>
          <a:p>
            <a:pPr marL="342900" indent="-342900">
              <a:spcAft>
                <a:spcPts val="600"/>
              </a:spcAft>
              <a:buSzPct val="100000"/>
              <a:buChar char="•"/>
            </a:pPr>
            <a:r>
              <a:rPr lang="en-US" sz="1250" dirty="0">
                <a:solidFill>
                  <a:srgbClr val="1E2A28"/>
                </a:solidFill>
                <a:latin typeface="Calibri" pitchFamily="34" charset="0"/>
                <a:ea typeface="Calibri" pitchFamily="34" charset="-122"/>
                <a:cs typeface="Calibri" pitchFamily="34" charset="-120"/>
              </a:rPr>
              <a:t>Solo 1.8% de los datos y la etiqueta menos confiable.</a:t>
            </a:r>
            <a:endParaRPr lang="en-US" sz="1250" dirty="0"/>
          </a:p>
        </p:txBody>
      </p:sp>
      <p:sp>
        <p:nvSpPr>
          <p:cNvPr id="9" name="Shape 7"/>
          <p:cNvSpPr/>
          <p:nvPr/>
        </p:nvSpPr>
        <p:spPr>
          <a:xfrm>
            <a:off x="6227064" y="1783080"/>
            <a:ext cx="5385816" cy="4389120"/>
          </a:xfrm>
          <a:prstGeom prst="roundRect">
            <a:avLst>
              <a:gd name="adj" fmla="val 1042"/>
            </a:avLst>
          </a:prstGeom>
          <a:solidFill>
            <a:srgbClr val="EEF4EF"/>
          </a:solidFill>
          <a:ln w="9525">
            <a:solidFill>
              <a:srgbClr val="D4E2D6"/>
            </a:solidFill>
            <a:prstDash val="solid"/>
          </a:ln>
        </p:spPr>
      </p:sp>
      <p:sp>
        <p:nvSpPr>
          <p:cNvPr id="10" name="Text 8"/>
          <p:cNvSpPr/>
          <p:nvPr/>
        </p:nvSpPr>
        <p:spPr>
          <a:xfrm>
            <a:off x="6483096" y="1984248"/>
            <a:ext cx="4873752" cy="347472"/>
          </a:xfrm>
          <a:prstGeom prst="rect">
            <a:avLst/>
          </a:prstGeom>
          <a:noFill/>
          <a:ln/>
        </p:spPr>
        <p:txBody>
          <a:bodyPr wrap="square" lIns="0" tIns="0" rIns="0" bIns="0" rtlCol="0" anchor="ctr"/>
          <a:lstStyle/>
          <a:p>
            <a:pPr indent="0" marL="0">
              <a:buNone/>
            </a:pPr>
            <a:r>
              <a:rPr lang="en-US" sz="1300" b="1" dirty="0">
                <a:solidFill>
                  <a:srgbClr val="3F8A26"/>
                </a:solidFill>
                <a:latin typeface="Calibri" pitchFamily="34" charset="0"/>
                <a:ea typeface="Calibri" pitchFamily="34" charset="-122"/>
                <a:cs typeface="Calibri" pitchFamily="34" charset="-120"/>
              </a:rPr>
              <a:t>Recall de diabetes por subgrupo</a:t>
            </a:r>
            <a:endParaRPr lang="en-US" sz="1300" dirty="0"/>
          </a:p>
        </p:txBody>
      </p:sp>
      <p:sp>
        <p:nvSpPr>
          <p:cNvPr id="11" name="Text 9"/>
          <p:cNvSpPr/>
          <p:nvPr/>
        </p:nvSpPr>
        <p:spPr>
          <a:xfrm>
            <a:off x="6483096" y="2386584"/>
            <a:ext cx="4873752" cy="35661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E2A28"/>
                </a:solidFill>
                <a:latin typeface="Calibri" pitchFamily="34" charset="0"/>
                <a:ea typeface="Calibri" pitchFamily="34" charset="-122"/>
                <a:cs typeface="Calibri" pitchFamily="34" charset="-120"/>
              </a:rPr>
              <a:t>Mujeres 0.70 y hombres 0.70: sin diferencia.</a:t>
            </a:r>
            <a:endParaRPr lang="en-US" sz="1250" dirty="0"/>
          </a:p>
          <a:p>
            <a:pPr marL="342900" indent="-342900">
              <a:spcAft>
                <a:spcPts val="600"/>
              </a:spcAft>
              <a:buSzPct val="100000"/>
              <a:buChar char="•"/>
            </a:pPr>
            <a:r>
              <a:rPr lang="en-US" sz="1250" dirty="0">
                <a:solidFill>
                  <a:srgbClr val="1E2A28"/>
                </a:solidFill>
                <a:latin typeface="Calibri" pitchFamily="34" charset="0"/>
                <a:ea typeface="Calibri" pitchFamily="34" charset="-122"/>
                <a:cs typeface="Calibri" pitchFamily="34" charset="-120"/>
              </a:rPr>
              <a:t>Edad 18 a 44: 0.40, contra 0.74 en 65 o más.</a:t>
            </a:r>
            <a:endParaRPr lang="en-US" sz="1250" dirty="0"/>
          </a:p>
          <a:p>
            <a:pPr marL="342900" indent="-342900">
              <a:spcAft>
                <a:spcPts val="600"/>
              </a:spcAft>
              <a:buSzPct val="100000"/>
              <a:buChar char="•"/>
            </a:pPr>
            <a:r>
              <a:rPr lang="en-US" sz="1250" dirty="0">
                <a:solidFill>
                  <a:srgbClr val="1E2A28"/>
                </a:solidFill>
                <a:latin typeface="Calibri" pitchFamily="34" charset="0"/>
                <a:ea typeface="Calibri" pitchFamily="34" charset="-122"/>
                <a:cs typeface="Calibri" pitchFamily="34" charset="-120"/>
              </a:rPr>
              <a:t>Ingreso menor a $25k: 0.82, contra 0.56 en mayor a $50k.</a:t>
            </a:r>
            <a:endParaRPr lang="en-US" sz="1250" dirty="0"/>
          </a:p>
          <a:p>
            <a:pPr marL="342900" indent="-342900">
              <a:spcAft>
                <a:spcPts val="600"/>
              </a:spcAft>
              <a:buSzPct val="100000"/>
              <a:buChar char="•"/>
            </a:pPr>
            <a:r>
              <a:rPr lang="en-US" sz="1250" dirty="0">
                <a:solidFill>
                  <a:srgbClr val="1E2A28"/>
                </a:solidFill>
                <a:latin typeface="Calibri" pitchFamily="34" charset="0"/>
                <a:ea typeface="Calibri" pitchFamily="34" charset="-122"/>
                <a:cs typeface="Calibri" pitchFamily="34" charset="-120"/>
              </a:rPr>
              <a:t>Recomendaría menos pruebas a jóvenes y personas de ingresos altos que sí tienen diabetes.</a:t>
            </a:r>
            <a:endParaRPr lang="en-US" sz="1250" dirty="0"/>
          </a:p>
        </p:txBody>
      </p:sp>
      <p:sp>
        <p:nvSpPr>
          <p:cNvPr id="13" name="Text 10"/>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1000" dirty="0">
                <a:solidFill>
                  <a:srgbClr val="7F8F8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420624"/>
            <a:ext cx="402336" cy="402336"/>
          </a:xfrm>
          <a:prstGeom prst="ellipse">
            <a:avLst/>
          </a:prstGeom>
          <a:solidFill>
            <a:srgbClr val="0E4D45"/>
          </a:solidFill>
          <a:ln/>
        </p:spPr>
      </p:sp>
      <p:sp>
        <p:nvSpPr>
          <p:cNvPr id="3" name="Text 1"/>
          <p:cNvSpPr/>
          <p:nvPr/>
        </p:nvSpPr>
        <p:spPr>
          <a:xfrm>
            <a:off x="548640" y="42062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7</a:t>
            </a:r>
            <a:endParaRPr lang="en-US" sz="1500" dirty="0"/>
          </a:p>
        </p:txBody>
      </p:sp>
      <p:sp>
        <p:nvSpPr>
          <p:cNvPr id="4" name="Text 2"/>
          <p:cNvSpPr/>
          <p:nvPr/>
        </p:nvSpPr>
        <p:spPr>
          <a:xfrm>
            <a:off x="1097280" y="457200"/>
            <a:ext cx="9601200" cy="329184"/>
          </a:xfrm>
          <a:prstGeom prst="rect">
            <a:avLst/>
          </a:prstGeom>
          <a:noFill/>
          <a:ln/>
        </p:spPr>
        <p:txBody>
          <a:bodyPr wrap="square" lIns="0" tIns="0" rIns="0" bIns="0" rtlCol="0" anchor="ctr"/>
          <a:lstStyle/>
          <a:p>
            <a:pPr indent="0" marL="0">
              <a:buNone/>
            </a:pPr>
            <a:r>
              <a:rPr lang="en-US" sz="1100" b="1" spc="140" kern="0" dirty="0">
                <a:solidFill>
                  <a:srgbClr val="3F8A26"/>
                </a:solidFill>
                <a:latin typeface="Calibri" pitchFamily="34" charset="0"/>
                <a:ea typeface="Calibri" pitchFamily="34" charset="-122"/>
                <a:cs typeface="Calibri" pitchFamily="34" charset="-120"/>
              </a:rPr>
              <a:t>LIMITACIONES</a:t>
            </a:r>
            <a:endParaRPr lang="en-US" sz="1100" dirty="0"/>
          </a:p>
        </p:txBody>
      </p:sp>
      <p:sp>
        <p:nvSpPr>
          <p:cNvPr id="5" name="Text 3"/>
          <p:cNvSpPr/>
          <p:nvPr/>
        </p:nvSpPr>
        <p:spPr>
          <a:xfrm>
            <a:off x="548640" y="960120"/>
            <a:ext cx="11064240" cy="658368"/>
          </a:xfrm>
          <a:prstGeom prst="rect">
            <a:avLst/>
          </a:prstGeom>
          <a:noFill/>
          <a:ln/>
        </p:spPr>
        <p:txBody>
          <a:bodyPr wrap="square" lIns="0" tIns="0" rIns="0" bIns="0" rtlCol="0" anchor="t"/>
          <a:lstStyle/>
          <a:p>
            <a:pPr indent="0" marL="0">
              <a:buNone/>
            </a:pPr>
            <a:r>
              <a:rPr lang="en-US" sz="2600" b="1" dirty="0">
                <a:solidFill>
                  <a:srgbClr val="0E4D45"/>
                </a:solidFill>
                <a:latin typeface="Cambria" pitchFamily="34" charset="0"/>
                <a:ea typeface="Cambria" pitchFamily="34" charset="-122"/>
                <a:cs typeface="Cambria" pitchFamily="34" charset="-120"/>
              </a:rPr>
              <a:t>Lo que estos datos no permiten</a:t>
            </a:r>
            <a:endParaRPr lang="en-US" sz="2600" dirty="0"/>
          </a:p>
        </p:txBody>
      </p:sp>
      <p:sp>
        <p:nvSpPr>
          <p:cNvPr id="6" name="Shape 4"/>
          <p:cNvSpPr/>
          <p:nvPr/>
        </p:nvSpPr>
        <p:spPr>
          <a:xfrm>
            <a:off x="548640" y="1783080"/>
            <a:ext cx="3493008" cy="4389120"/>
          </a:xfrm>
          <a:prstGeom prst="roundRect">
            <a:avLst>
              <a:gd name="adj" fmla="val 1309"/>
            </a:avLst>
          </a:prstGeom>
          <a:solidFill>
            <a:srgbClr val="EEF4EF"/>
          </a:solidFill>
          <a:ln w="9525">
            <a:solidFill>
              <a:srgbClr val="D4E2D6"/>
            </a:solidFill>
            <a:prstDash val="solid"/>
          </a:ln>
        </p:spPr>
      </p:sp>
      <p:sp>
        <p:nvSpPr>
          <p:cNvPr id="7" name="Text 5"/>
          <p:cNvSpPr/>
          <p:nvPr/>
        </p:nvSpPr>
        <p:spPr>
          <a:xfrm>
            <a:off x="804672" y="1984248"/>
            <a:ext cx="2980944" cy="347472"/>
          </a:xfrm>
          <a:prstGeom prst="rect">
            <a:avLst/>
          </a:prstGeom>
          <a:noFill/>
          <a:ln/>
        </p:spPr>
        <p:txBody>
          <a:bodyPr wrap="square" lIns="0" tIns="0" rIns="0" bIns="0" rtlCol="0" anchor="ctr"/>
          <a:lstStyle/>
          <a:p>
            <a:pPr indent="0" marL="0">
              <a:buNone/>
            </a:pPr>
            <a:r>
              <a:rPr lang="en-US" sz="1300" b="1" dirty="0">
                <a:solidFill>
                  <a:srgbClr val="0E4D45"/>
                </a:solidFill>
                <a:latin typeface="Calibri" pitchFamily="34" charset="0"/>
                <a:ea typeface="Calibri" pitchFamily="34" charset="-122"/>
                <a:cs typeface="Calibri" pitchFamily="34" charset="-120"/>
              </a:rPr>
              <a:t>La etiqueta</a:t>
            </a:r>
            <a:endParaRPr lang="en-US" sz="1300" dirty="0"/>
          </a:p>
        </p:txBody>
      </p:sp>
      <p:sp>
        <p:nvSpPr>
          <p:cNvPr id="8" name="Text 6"/>
          <p:cNvSpPr/>
          <p:nvPr/>
        </p:nvSpPr>
        <p:spPr>
          <a:xfrm>
            <a:off x="804672" y="2386584"/>
            <a:ext cx="2980944" cy="35661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E2A28"/>
                </a:solidFill>
                <a:latin typeface="Calibri" pitchFamily="34" charset="0"/>
                <a:ea typeface="Calibri" pitchFamily="34" charset="-122"/>
                <a:cs typeface="Calibri" pitchFamily="34" charset="-120"/>
              </a:rPr>
              <a:t>Autorreportada: hay personas con diabetes sin diagnosticar en la clase sin diabetes.</a:t>
            </a:r>
            <a:endParaRPr lang="en-US" sz="1250" dirty="0"/>
          </a:p>
          <a:p>
            <a:pPr marL="342900" indent="-342900">
              <a:spcAft>
                <a:spcPts val="600"/>
              </a:spcAft>
              <a:buSzPct val="100000"/>
              <a:buChar char="•"/>
            </a:pPr>
            <a:r>
              <a:rPr lang="en-US" sz="1250" dirty="0">
                <a:solidFill>
                  <a:srgbClr val="1E2A28"/>
                </a:solidFill>
                <a:latin typeface="Calibri" pitchFamily="34" charset="0"/>
                <a:ea typeface="Calibri" pitchFamily="34" charset="-122"/>
                <a:cs typeface="Calibri" pitchFamily="34" charset="-120"/>
              </a:rPr>
              <a:t>No distingue tipo 1 y tipo 2.</a:t>
            </a:r>
            <a:endParaRPr lang="en-US" sz="1250" dirty="0"/>
          </a:p>
        </p:txBody>
      </p:sp>
      <p:sp>
        <p:nvSpPr>
          <p:cNvPr id="9" name="Shape 7"/>
          <p:cNvSpPr/>
          <p:nvPr/>
        </p:nvSpPr>
        <p:spPr>
          <a:xfrm>
            <a:off x="4334256" y="1783080"/>
            <a:ext cx="3493008" cy="4389120"/>
          </a:xfrm>
          <a:prstGeom prst="roundRect">
            <a:avLst>
              <a:gd name="adj" fmla="val 1309"/>
            </a:avLst>
          </a:prstGeom>
          <a:solidFill>
            <a:srgbClr val="EEF4EF"/>
          </a:solidFill>
          <a:ln w="9525">
            <a:solidFill>
              <a:srgbClr val="D4E2D6"/>
            </a:solidFill>
            <a:prstDash val="solid"/>
          </a:ln>
        </p:spPr>
      </p:sp>
      <p:sp>
        <p:nvSpPr>
          <p:cNvPr id="10" name="Text 8"/>
          <p:cNvSpPr/>
          <p:nvPr/>
        </p:nvSpPr>
        <p:spPr>
          <a:xfrm>
            <a:off x="4590288" y="1984248"/>
            <a:ext cx="2980944" cy="347472"/>
          </a:xfrm>
          <a:prstGeom prst="rect">
            <a:avLst/>
          </a:prstGeom>
          <a:noFill/>
          <a:ln/>
        </p:spPr>
        <p:txBody>
          <a:bodyPr wrap="square" lIns="0" tIns="0" rIns="0" bIns="0" rtlCol="0" anchor="ctr"/>
          <a:lstStyle/>
          <a:p>
            <a:pPr indent="0" marL="0">
              <a:buNone/>
            </a:pPr>
            <a:r>
              <a:rPr lang="en-US" sz="1300" b="1" dirty="0">
                <a:solidFill>
                  <a:srgbClr val="0E4D45"/>
                </a:solidFill>
                <a:latin typeface="Calibri" pitchFamily="34" charset="0"/>
                <a:ea typeface="Calibri" pitchFamily="34" charset="-122"/>
                <a:cs typeface="Calibri" pitchFamily="34" charset="-120"/>
              </a:rPr>
              <a:t>Las variables</a:t>
            </a:r>
            <a:endParaRPr lang="en-US" sz="1300" dirty="0"/>
          </a:p>
        </p:txBody>
      </p:sp>
      <p:sp>
        <p:nvSpPr>
          <p:cNvPr id="11" name="Text 9"/>
          <p:cNvSpPr/>
          <p:nvPr/>
        </p:nvSpPr>
        <p:spPr>
          <a:xfrm>
            <a:off x="4590288" y="2386584"/>
            <a:ext cx="2980944" cy="35661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E2A28"/>
                </a:solidFill>
                <a:latin typeface="Calibri" pitchFamily="34" charset="0"/>
                <a:ea typeface="Calibri" pitchFamily="34" charset="-122"/>
                <a:cs typeface="Calibri" pitchFamily="34" charset="-120"/>
              </a:rPr>
              <a:t>Sin glucosa ni hemoglobina glicosilada.</a:t>
            </a:r>
            <a:endParaRPr lang="en-US" sz="1250" dirty="0"/>
          </a:p>
          <a:p>
            <a:pPr marL="342900" indent="-342900">
              <a:spcAft>
                <a:spcPts val="600"/>
              </a:spcAft>
              <a:buSzPct val="100000"/>
              <a:buChar char="•"/>
            </a:pPr>
            <a:r>
              <a:rPr lang="en-US" sz="1250" dirty="0">
                <a:solidFill>
                  <a:srgbClr val="1E2A28"/>
                </a:solidFill>
                <a:latin typeface="Calibri" pitchFamily="34" charset="0"/>
                <a:ea typeface="Calibri" pitchFamily="34" charset="-122"/>
                <a:cs typeface="Calibri" pitchFamily="34" charset="-120"/>
              </a:rPr>
              <a:t>Casi todas son de sí/no o rangos.</a:t>
            </a:r>
            <a:endParaRPr lang="en-US" sz="1250" dirty="0"/>
          </a:p>
          <a:p>
            <a:pPr marL="342900" indent="-342900">
              <a:spcAft>
                <a:spcPts val="600"/>
              </a:spcAft>
              <a:buSzPct val="100000"/>
              <a:buChar char="•"/>
            </a:pPr>
            <a:r>
              <a:rPr lang="en-US" sz="1250" dirty="0">
                <a:solidFill>
                  <a:srgbClr val="1E2A28"/>
                </a:solidFill>
                <a:latin typeface="Calibri" pitchFamily="34" charset="0"/>
                <a:ea typeface="Calibri" pitchFamily="34" charset="-122"/>
                <a:cs typeface="Calibri" pitchFamily="34" charset="-120"/>
              </a:rPr>
              <a:t>Todos los modelos topan cerca de 0.44 de F1 macro.</a:t>
            </a:r>
            <a:endParaRPr lang="en-US" sz="1250" dirty="0"/>
          </a:p>
        </p:txBody>
      </p:sp>
      <p:sp>
        <p:nvSpPr>
          <p:cNvPr id="12" name="Shape 10"/>
          <p:cNvSpPr/>
          <p:nvPr/>
        </p:nvSpPr>
        <p:spPr>
          <a:xfrm>
            <a:off x="8119872" y="1783080"/>
            <a:ext cx="3493008" cy="4389120"/>
          </a:xfrm>
          <a:prstGeom prst="roundRect">
            <a:avLst>
              <a:gd name="adj" fmla="val 1309"/>
            </a:avLst>
          </a:prstGeom>
          <a:solidFill>
            <a:srgbClr val="EEF4EF"/>
          </a:solidFill>
          <a:ln w="9525">
            <a:solidFill>
              <a:srgbClr val="D4E2D6"/>
            </a:solidFill>
            <a:prstDash val="solid"/>
          </a:ln>
        </p:spPr>
      </p:sp>
      <p:sp>
        <p:nvSpPr>
          <p:cNvPr id="13" name="Text 11"/>
          <p:cNvSpPr/>
          <p:nvPr/>
        </p:nvSpPr>
        <p:spPr>
          <a:xfrm>
            <a:off x="8375904" y="1984248"/>
            <a:ext cx="2980944" cy="347472"/>
          </a:xfrm>
          <a:prstGeom prst="rect">
            <a:avLst/>
          </a:prstGeom>
          <a:noFill/>
          <a:ln/>
        </p:spPr>
        <p:txBody>
          <a:bodyPr wrap="square" lIns="0" tIns="0" rIns="0" bIns="0" rtlCol="0" anchor="ctr"/>
          <a:lstStyle/>
          <a:p>
            <a:pPr indent="0" marL="0">
              <a:buNone/>
            </a:pPr>
            <a:r>
              <a:rPr lang="en-US" sz="1300" b="1" dirty="0">
                <a:solidFill>
                  <a:srgbClr val="0E4D45"/>
                </a:solidFill>
                <a:latin typeface="Calibri" pitchFamily="34" charset="0"/>
                <a:ea typeface="Calibri" pitchFamily="34" charset="-122"/>
                <a:cs typeface="Calibri" pitchFamily="34" charset="-120"/>
              </a:rPr>
              <a:t>La población</a:t>
            </a:r>
            <a:endParaRPr lang="en-US" sz="1300" dirty="0"/>
          </a:p>
        </p:txBody>
      </p:sp>
      <p:sp>
        <p:nvSpPr>
          <p:cNvPr id="14" name="Text 12"/>
          <p:cNvSpPr/>
          <p:nvPr/>
        </p:nvSpPr>
        <p:spPr>
          <a:xfrm>
            <a:off x="8375904" y="2386584"/>
            <a:ext cx="2980944" cy="35661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E2A28"/>
                </a:solidFill>
                <a:latin typeface="Calibri" pitchFamily="34" charset="0"/>
                <a:ea typeface="Calibri" pitchFamily="34" charset="-122"/>
                <a:cs typeface="Calibri" pitchFamily="34" charset="-120"/>
              </a:rPr>
              <a:t>Adultos de Estados Unidos en 2015, por teléfono.</a:t>
            </a:r>
            <a:endParaRPr lang="en-US" sz="1250" dirty="0"/>
          </a:p>
          <a:p>
            <a:pPr marL="342900" indent="-342900">
              <a:spcAft>
                <a:spcPts val="600"/>
              </a:spcAft>
              <a:buSzPct val="100000"/>
              <a:buChar char="•"/>
            </a:pPr>
            <a:r>
              <a:rPr lang="en-US" sz="1250" dirty="0">
                <a:solidFill>
                  <a:srgbClr val="1E2A28"/>
                </a:solidFill>
                <a:latin typeface="Calibri" pitchFamily="34" charset="0"/>
                <a:ea typeface="Calibri" pitchFamily="34" charset="-122"/>
                <a:cs typeface="Calibri" pitchFamily="34" charset="-120"/>
              </a:rPr>
              <a:t>No se traslada directamente a Guatemala.</a:t>
            </a:r>
            <a:endParaRPr lang="en-US" sz="1250" dirty="0"/>
          </a:p>
          <a:p>
            <a:pPr marL="342900" indent="-342900">
              <a:spcAft>
                <a:spcPts val="600"/>
              </a:spcAft>
              <a:buSzPct val="100000"/>
              <a:buChar char="•"/>
            </a:pPr>
            <a:r>
              <a:rPr lang="en-US" sz="1250" dirty="0">
                <a:solidFill>
                  <a:srgbClr val="1E2A28"/>
                </a:solidFill>
                <a:latin typeface="Calibri" pitchFamily="34" charset="0"/>
                <a:ea typeface="Calibri" pitchFamily="34" charset="-122"/>
                <a:cs typeface="Calibri" pitchFamily="34" charset="-120"/>
              </a:rPr>
              <a:t>Duplicados pueden inflar un poco la clase sin diabetes.</a:t>
            </a:r>
            <a:endParaRPr lang="en-US" sz="1250" dirty="0"/>
          </a:p>
        </p:txBody>
      </p:sp>
      <p:sp>
        <p:nvSpPr>
          <p:cNvPr id="16" name="Text 13"/>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1000" dirty="0">
                <a:solidFill>
                  <a:srgbClr val="7F8F8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420624"/>
            <a:ext cx="402336" cy="402336"/>
          </a:xfrm>
          <a:prstGeom prst="ellipse">
            <a:avLst/>
          </a:prstGeom>
          <a:solidFill>
            <a:srgbClr val="0E4D45"/>
          </a:solidFill>
          <a:ln/>
        </p:spPr>
      </p:sp>
      <p:sp>
        <p:nvSpPr>
          <p:cNvPr id="3" name="Text 1"/>
          <p:cNvSpPr/>
          <p:nvPr/>
        </p:nvSpPr>
        <p:spPr>
          <a:xfrm>
            <a:off x="548640" y="42062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8</a:t>
            </a:r>
            <a:endParaRPr lang="en-US" sz="1500" dirty="0"/>
          </a:p>
        </p:txBody>
      </p:sp>
      <p:sp>
        <p:nvSpPr>
          <p:cNvPr id="4" name="Text 2"/>
          <p:cNvSpPr/>
          <p:nvPr/>
        </p:nvSpPr>
        <p:spPr>
          <a:xfrm>
            <a:off x="1097280" y="457200"/>
            <a:ext cx="9601200" cy="329184"/>
          </a:xfrm>
          <a:prstGeom prst="rect">
            <a:avLst/>
          </a:prstGeom>
          <a:noFill/>
          <a:ln/>
        </p:spPr>
        <p:txBody>
          <a:bodyPr wrap="square" lIns="0" tIns="0" rIns="0" bIns="0" rtlCol="0" anchor="ctr"/>
          <a:lstStyle/>
          <a:p>
            <a:pPr indent="0" marL="0">
              <a:buNone/>
            </a:pPr>
            <a:r>
              <a:rPr lang="en-US" sz="1100" b="1" spc="140" kern="0" dirty="0">
                <a:solidFill>
                  <a:srgbClr val="3F8A26"/>
                </a:solidFill>
                <a:latin typeface="Calibri" pitchFamily="34" charset="0"/>
                <a:ea typeface="Calibri" pitchFamily="34" charset="-122"/>
                <a:cs typeface="Calibri" pitchFamily="34" charset="-120"/>
              </a:rPr>
              <a:t>CONCLUSIONES</a:t>
            </a:r>
            <a:endParaRPr lang="en-US" sz="1100" dirty="0"/>
          </a:p>
        </p:txBody>
      </p:sp>
      <p:sp>
        <p:nvSpPr>
          <p:cNvPr id="5" name="Text 3"/>
          <p:cNvSpPr/>
          <p:nvPr/>
        </p:nvSpPr>
        <p:spPr>
          <a:xfrm>
            <a:off x="548640" y="960120"/>
            <a:ext cx="11064240" cy="658368"/>
          </a:xfrm>
          <a:prstGeom prst="rect">
            <a:avLst/>
          </a:prstGeom>
          <a:noFill/>
          <a:ln/>
        </p:spPr>
        <p:txBody>
          <a:bodyPr wrap="square" lIns="0" tIns="0" rIns="0" bIns="0" rtlCol="0" anchor="t"/>
          <a:lstStyle/>
          <a:p>
            <a:pPr indent="0" marL="0">
              <a:buNone/>
            </a:pPr>
            <a:r>
              <a:rPr lang="en-US" sz="2600" b="1" dirty="0">
                <a:solidFill>
                  <a:srgbClr val="0E4D45"/>
                </a:solidFill>
                <a:latin typeface="Cambria" pitchFamily="34" charset="0"/>
                <a:ea typeface="Cambria" pitchFamily="34" charset="-122"/>
                <a:cs typeface="Cambria" pitchFamily="34" charset="-120"/>
              </a:rPr>
              <a:t>Un filtro útil para diabetes, no para prediabetes</a:t>
            </a:r>
            <a:endParaRPr lang="en-US" sz="2600" dirty="0"/>
          </a:p>
        </p:txBody>
      </p:sp>
      <p:sp>
        <p:nvSpPr>
          <p:cNvPr id="6" name="Shape 4"/>
          <p:cNvSpPr/>
          <p:nvPr/>
        </p:nvSpPr>
        <p:spPr>
          <a:xfrm>
            <a:off x="548640" y="1783080"/>
            <a:ext cx="11064240" cy="2048256"/>
          </a:xfrm>
          <a:prstGeom prst="roundRect">
            <a:avLst>
              <a:gd name="adj" fmla="val 2232"/>
            </a:avLst>
          </a:prstGeom>
          <a:solidFill>
            <a:srgbClr val="EEF4EF"/>
          </a:solidFill>
          <a:ln w="9525">
            <a:solidFill>
              <a:srgbClr val="D4E2D6"/>
            </a:solidFill>
            <a:prstDash val="solid"/>
          </a:ln>
        </p:spPr>
      </p:sp>
      <p:sp>
        <p:nvSpPr>
          <p:cNvPr id="7" name="Text 5"/>
          <p:cNvSpPr/>
          <p:nvPr/>
        </p:nvSpPr>
        <p:spPr>
          <a:xfrm>
            <a:off x="804672" y="1984248"/>
            <a:ext cx="10552176" cy="347472"/>
          </a:xfrm>
          <a:prstGeom prst="rect">
            <a:avLst/>
          </a:prstGeom>
          <a:noFill/>
          <a:ln/>
        </p:spPr>
        <p:txBody>
          <a:bodyPr wrap="square" lIns="0" tIns="0" rIns="0" bIns="0" rtlCol="0" anchor="ctr"/>
          <a:lstStyle/>
          <a:p>
            <a:pPr indent="0" marL="0">
              <a:buNone/>
            </a:pPr>
            <a:r>
              <a:rPr lang="en-US" sz="1300" b="1" dirty="0">
                <a:solidFill>
                  <a:srgbClr val="0E4D45"/>
                </a:solidFill>
                <a:latin typeface="Calibri" pitchFamily="34" charset="0"/>
                <a:ea typeface="Calibri" pitchFamily="34" charset="-122"/>
                <a:cs typeface="Calibri" pitchFamily="34" charset="-120"/>
              </a:rPr>
              <a:t>Resultado</a:t>
            </a:r>
            <a:endParaRPr lang="en-US" sz="1300" dirty="0"/>
          </a:p>
        </p:txBody>
      </p:sp>
      <p:sp>
        <p:nvSpPr>
          <p:cNvPr id="8" name="Text 6"/>
          <p:cNvSpPr/>
          <p:nvPr/>
        </p:nvSpPr>
        <p:spPr>
          <a:xfrm>
            <a:off x="804672" y="2386584"/>
            <a:ext cx="10552176" cy="1225296"/>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E2A28"/>
                </a:solidFill>
                <a:latin typeface="Calibri" pitchFamily="34" charset="0"/>
                <a:ea typeface="Calibri" pitchFamily="34" charset="-122"/>
                <a:cs typeface="Calibri" pitchFamily="34" charset="-120"/>
              </a:rPr>
              <a:t>Random forest: F1 macro 0.438 en prueba, contra 0.305 del baseline. Detecta al 70% de las personas con diabetes.</a:t>
            </a:r>
            <a:endParaRPr lang="en-US" sz="1250" dirty="0"/>
          </a:p>
          <a:p>
            <a:pPr marL="342900" indent="-342900">
              <a:spcAft>
                <a:spcPts val="600"/>
              </a:spcAft>
              <a:buSzPct val="100000"/>
              <a:buChar char="•"/>
            </a:pPr>
            <a:r>
              <a:rPr lang="en-US" sz="1250" dirty="0">
                <a:solidFill>
                  <a:srgbClr val="1E2A28"/>
                </a:solidFill>
                <a:latin typeface="Calibri" pitchFamily="34" charset="0"/>
                <a:ea typeface="Calibri" pitchFamily="34" charset="-122"/>
                <a:cs typeface="Calibri" pitchFamily="34" charset="-120"/>
              </a:rPr>
              <a:t>Variables clave: salud general, IMC, edad, presión alta y colesterol alto.</a:t>
            </a:r>
            <a:endParaRPr lang="en-US" sz="1250" dirty="0"/>
          </a:p>
          <a:p>
            <a:pPr marL="342900" indent="-342900">
              <a:spcAft>
                <a:spcPts val="600"/>
              </a:spcAft>
              <a:buSzPct val="100000"/>
              <a:buChar char="•"/>
            </a:pPr>
            <a:r>
              <a:rPr lang="en-US" sz="1250" dirty="0">
                <a:solidFill>
                  <a:srgbClr val="1E2A28"/>
                </a:solidFill>
                <a:latin typeface="Calibri" pitchFamily="34" charset="0"/>
                <a:ea typeface="Calibri" pitchFamily="34" charset="-122"/>
                <a:cs typeface="Calibri" pitchFamily="34" charset="-120"/>
              </a:rPr>
              <a:t>Si importa detectar prediabetes, la regresión logística es casi igual de buena (0.427) y la encuentra en el 30% de los casos.</a:t>
            </a:r>
            <a:endParaRPr lang="en-US" sz="1250" dirty="0"/>
          </a:p>
        </p:txBody>
      </p:sp>
      <p:sp>
        <p:nvSpPr>
          <p:cNvPr id="9" name="Shape 7"/>
          <p:cNvSpPr/>
          <p:nvPr/>
        </p:nvSpPr>
        <p:spPr>
          <a:xfrm>
            <a:off x="548640" y="4123944"/>
            <a:ext cx="5385816" cy="2048256"/>
          </a:xfrm>
          <a:prstGeom prst="roundRect">
            <a:avLst>
              <a:gd name="adj" fmla="val 2232"/>
            </a:avLst>
          </a:prstGeom>
          <a:solidFill>
            <a:srgbClr val="EEF4EF"/>
          </a:solidFill>
          <a:ln w="9525">
            <a:solidFill>
              <a:srgbClr val="D4E2D6"/>
            </a:solidFill>
            <a:prstDash val="solid"/>
          </a:ln>
        </p:spPr>
      </p:sp>
      <p:sp>
        <p:nvSpPr>
          <p:cNvPr id="10" name="Text 8"/>
          <p:cNvSpPr/>
          <p:nvPr/>
        </p:nvSpPr>
        <p:spPr>
          <a:xfrm>
            <a:off x="804672" y="4325112"/>
            <a:ext cx="4873752" cy="347472"/>
          </a:xfrm>
          <a:prstGeom prst="rect">
            <a:avLst/>
          </a:prstGeom>
          <a:noFill/>
          <a:ln/>
        </p:spPr>
        <p:txBody>
          <a:bodyPr wrap="square" lIns="0" tIns="0" rIns="0" bIns="0" rtlCol="0" anchor="ctr"/>
          <a:lstStyle/>
          <a:p>
            <a:pPr indent="0" marL="0">
              <a:buNone/>
            </a:pPr>
            <a:r>
              <a:rPr lang="en-US" sz="1300" b="1" dirty="0">
                <a:solidFill>
                  <a:srgbClr val="0E4D45"/>
                </a:solidFill>
                <a:latin typeface="Calibri" pitchFamily="34" charset="0"/>
                <a:ea typeface="Calibri" pitchFamily="34" charset="-122"/>
                <a:cs typeface="Calibri" pitchFamily="34" charset="-120"/>
              </a:rPr>
              <a:t>Siguientes pasos</a:t>
            </a:r>
            <a:endParaRPr lang="en-US" sz="1300" dirty="0"/>
          </a:p>
        </p:txBody>
      </p:sp>
      <p:sp>
        <p:nvSpPr>
          <p:cNvPr id="11" name="Text 9"/>
          <p:cNvSpPr/>
          <p:nvPr/>
        </p:nvSpPr>
        <p:spPr>
          <a:xfrm>
            <a:off x="804672" y="4727448"/>
            <a:ext cx="4873752" cy="122529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A28"/>
                </a:solidFill>
                <a:latin typeface="Calibri" pitchFamily="34" charset="0"/>
                <a:ea typeface="Calibri" pitchFamily="34" charset="-122"/>
                <a:cs typeface="Calibri" pitchFamily="34" charset="-120"/>
              </a:rPr>
              <a:t>Ajustar umbrales de decisión por clase.</a:t>
            </a:r>
            <a:endParaRPr lang="en-US" sz="1200" dirty="0"/>
          </a:p>
          <a:p>
            <a:pPr marL="342900" indent="-342900">
              <a:spcAft>
                <a:spcPts val="600"/>
              </a:spcAft>
              <a:buSzPct val="100000"/>
              <a:buChar char="•"/>
            </a:pPr>
            <a:r>
              <a:rPr lang="en-US" sz="1200" dirty="0">
                <a:solidFill>
                  <a:srgbClr val="1E2A28"/>
                </a:solidFill>
                <a:latin typeface="Calibri" pitchFamily="34" charset="0"/>
                <a:ea typeface="Calibri" pitchFamily="34" charset="-122"/>
                <a:cs typeface="Calibri" pitchFamily="34" charset="-120"/>
              </a:rPr>
              <a:t>Modelo en dos etapas: sano contra no sano, luego prediabetes contra diabetes.</a:t>
            </a:r>
            <a:endParaRPr lang="en-US" sz="1200" dirty="0"/>
          </a:p>
        </p:txBody>
      </p:sp>
      <p:sp>
        <p:nvSpPr>
          <p:cNvPr id="12" name="Shape 10"/>
          <p:cNvSpPr/>
          <p:nvPr/>
        </p:nvSpPr>
        <p:spPr>
          <a:xfrm>
            <a:off x="6227064" y="4123944"/>
            <a:ext cx="5385816" cy="2048256"/>
          </a:xfrm>
          <a:prstGeom prst="roundRect">
            <a:avLst>
              <a:gd name="adj" fmla="val 2232"/>
            </a:avLst>
          </a:prstGeom>
          <a:solidFill>
            <a:srgbClr val="EEF4EF"/>
          </a:solidFill>
          <a:ln w="9525">
            <a:solidFill>
              <a:srgbClr val="D4E2D6"/>
            </a:solidFill>
            <a:prstDash val="solid"/>
          </a:ln>
        </p:spPr>
      </p:sp>
      <p:sp>
        <p:nvSpPr>
          <p:cNvPr id="13" name="Text 11"/>
          <p:cNvSpPr/>
          <p:nvPr/>
        </p:nvSpPr>
        <p:spPr>
          <a:xfrm>
            <a:off x="6483096" y="4325112"/>
            <a:ext cx="4873752" cy="347472"/>
          </a:xfrm>
          <a:prstGeom prst="rect">
            <a:avLst/>
          </a:prstGeom>
          <a:noFill/>
          <a:ln/>
        </p:spPr>
        <p:txBody>
          <a:bodyPr wrap="square" lIns="0" tIns="0" rIns="0" bIns="0" rtlCol="0" anchor="ctr"/>
          <a:lstStyle/>
          <a:p>
            <a:pPr indent="0" marL="0">
              <a:buNone/>
            </a:pPr>
            <a:r>
              <a:rPr lang="en-US" sz="1300" b="1" dirty="0">
                <a:solidFill>
                  <a:srgbClr val="3F8A26"/>
                </a:solidFill>
                <a:latin typeface="Calibri" pitchFamily="34" charset="0"/>
                <a:ea typeface="Calibri" pitchFamily="34" charset="-122"/>
                <a:cs typeface="Calibri" pitchFamily="34" charset="-120"/>
              </a:rPr>
              <a:t>Uso de IA</a:t>
            </a:r>
            <a:endParaRPr lang="en-US" sz="1300" dirty="0"/>
          </a:p>
        </p:txBody>
      </p:sp>
      <p:sp>
        <p:nvSpPr>
          <p:cNvPr id="14" name="Text 12"/>
          <p:cNvSpPr/>
          <p:nvPr/>
        </p:nvSpPr>
        <p:spPr>
          <a:xfrm>
            <a:off x="6483096" y="4727448"/>
            <a:ext cx="4873752" cy="1225296"/>
          </a:xfrm>
          <a:prstGeom prst="rect">
            <a:avLst/>
          </a:prstGeom>
          <a:noFill/>
          <a:ln/>
        </p:spPr>
        <p:txBody>
          <a:bodyPr wrap="square" lIns="0" tIns="0" rIns="0" bIns="0" rtlCol="0" anchor="t"/>
          <a:lstStyle/>
          <a:p>
            <a:pPr indent="0" marL="0">
              <a:buNone/>
            </a:pPr>
            <a:r>
              <a:rPr lang="en-US" sz="1200" dirty="0">
                <a:solidFill>
                  <a:srgbClr val="1E2A28"/>
                </a:solidFill>
                <a:latin typeface="Calibri" pitchFamily="34" charset="0"/>
                <a:ea typeface="Calibri" pitchFamily="34" charset="-122"/>
                <a:cs typeface="Calibri" pitchFamily="34" charset="-120"/>
              </a:rPr>
              <a:t>Usamos Claude Code como apoyo para escribir y depurar código y para el borrador del informe y la presentación. Revisamos, ejecutamos y verificamos todo a mano.</a:t>
            </a:r>
            <a:endParaRPr lang="en-US" sz="1200" dirty="0"/>
          </a:p>
        </p:txBody>
      </p:sp>
      <p:sp>
        <p:nvSpPr>
          <p:cNvPr id="16" name="Text 13"/>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1000" dirty="0">
                <a:solidFill>
                  <a:srgbClr val="7F8F8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2026-10-27T00:02:11Z</dcterms:created>
  <dcterms:modified xsi:type="dcterms:W3CDTF">2026-10-27T00:02:11Z</dcterms:modified>
</cp:coreProperties>
</file>